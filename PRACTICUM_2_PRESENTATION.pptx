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16"/>
  </p:notesMasterIdLst>
  <p:sldIdLst>
    <p:sldId id="256" r:id="rId2"/>
    <p:sldId id="257" r:id="rId3"/>
    <p:sldId id="262" r:id="rId4"/>
    <p:sldId id="258" r:id="rId5"/>
    <p:sldId id="277" r:id="rId6"/>
    <p:sldId id="276" r:id="rId7"/>
    <p:sldId id="259" r:id="rId8"/>
    <p:sldId id="261" r:id="rId9"/>
    <p:sldId id="263" r:id="rId10"/>
    <p:sldId id="271" r:id="rId11"/>
    <p:sldId id="275" r:id="rId12"/>
    <p:sldId id="279" r:id="rId13"/>
    <p:sldId id="280"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FD64EF-95C9-4A20-8FEE-2F4BD994083B}" v="87" dt="2026-05-03T23:29:09.6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706" autoAdjust="0"/>
  </p:normalViewPr>
  <p:slideViewPr>
    <p:cSldViewPr snapToGrid="0">
      <p:cViewPr varScale="1">
        <p:scale>
          <a:sx n="47" d="100"/>
          <a:sy n="47" d="100"/>
        </p:scale>
        <p:origin x="77" y="10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mundeshwari Kottur" userId="9f3738eca1d61e61" providerId="LiveId" clId="{47157697-2B2E-4366-9D1E-4BBD5A6B34B6}"/>
    <pc:docChg chg="undo custSel addSld delSld modSld sldOrd addMainMaster delMainMaster">
      <pc:chgData name="chamundeshwari Kottur" userId="9f3738eca1d61e61" providerId="LiveId" clId="{47157697-2B2E-4366-9D1E-4BBD5A6B34B6}" dt="2026-05-03T23:34:10.305" v="4688" actId="478"/>
      <pc:docMkLst>
        <pc:docMk/>
      </pc:docMkLst>
      <pc:sldChg chg="addSp delSp modSp mod modClrScheme setClrOvrMap delDesignElem chgLayout">
        <pc:chgData name="chamundeshwari Kottur" userId="9f3738eca1d61e61" providerId="LiveId" clId="{47157697-2B2E-4366-9D1E-4BBD5A6B34B6}" dt="2026-04-30T21:00:24.438" v="4430" actId="26606"/>
        <pc:sldMkLst>
          <pc:docMk/>
          <pc:sldMk cId="1956887248" sldId="256"/>
        </pc:sldMkLst>
        <pc:spChg chg="mod">
          <ac:chgData name="chamundeshwari Kottur" userId="9f3738eca1d61e61" providerId="LiveId" clId="{47157697-2B2E-4366-9D1E-4BBD5A6B34B6}" dt="2026-04-30T21:00:24.438" v="4430" actId="26606"/>
          <ac:spMkLst>
            <pc:docMk/>
            <pc:sldMk cId="1956887248" sldId="256"/>
            <ac:spMk id="2" creationId="{6653AEC6-FBCB-CF1A-EFE0-9689E34CCD4B}"/>
          </ac:spMkLst>
        </pc:spChg>
        <pc:spChg chg="mod">
          <ac:chgData name="chamundeshwari Kottur" userId="9f3738eca1d61e61" providerId="LiveId" clId="{47157697-2B2E-4366-9D1E-4BBD5A6B34B6}" dt="2026-04-30T21:00:24.438" v="4430" actId="26606"/>
          <ac:spMkLst>
            <pc:docMk/>
            <pc:sldMk cId="1956887248" sldId="256"/>
            <ac:spMk id="3" creationId="{324328FB-7554-AB21-2536-FB5761F35D05}"/>
          </ac:spMkLst>
        </pc:spChg>
        <pc:picChg chg="mod ord">
          <ac:chgData name="chamundeshwari Kottur" userId="9f3738eca1d61e61" providerId="LiveId" clId="{47157697-2B2E-4366-9D1E-4BBD5A6B34B6}" dt="2026-04-30T21:00:24.438" v="4430" actId="26606"/>
          <ac:picMkLst>
            <pc:docMk/>
            <pc:sldMk cId="1956887248" sldId="256"/>
            <ac:picMk id="5" creationId="{DE3F914B-2909-8F3B-AE1E-2C604737C756}"/>
          </ac:picMkLst>
        </pc:picChg>
      </pc:sldChg>
      <pc:sldChg chg="addSp delSp modSp new mod setBg modClrScheme delDesignElem chgLayout">
        <pc:chgData name="chamundeshwari Kottur" userId="9f3738eca1d61e61" providerId="LiveId" clId="{47157697-2B2E-4366-9D1E-4BBD5A6B34B6}" dt="2026-04-30T18:10:32.254" v="4116" actId="20577"/>
        <pc:sldMkLst>
          <pc:docMk/>
          <pc:sldMk cId="3295953382" sldId="257"/>
        </pc:sldMkLst>
        <pc:spChg chg="mod ord">
          <ac:chgData name="chamundeshwari Kottur" userId="9f3738eca1d61e61" providerId="LiveId" clId="{47157697-2B2E-4366-9D1E-4BBD5A6B34B6}" dt="2026-04-30T18:10:32.254" v="4116" actId="20577"/>
          <ac:spMkLst>
            <pc:docMk/>
            <pc:sldMk cId="3295953382" sldId="257"/>
            <ac:spMk id="3" creationId="{4B708C0D-966D-AD0A-F5A0-60237612B062}"/>
          </ac:spMkLst>
        </pc:spChg>
        <pc:picChg chg="add mod">
          <ac:chgData name="chamundeshwari Kottur" userId="9f3738eca1d61e61" providerId="LiveId" clId="{47157697-2B2E-4366-9D1E-4BBD5A6B34B6}" dt="2026-04-23T19:04:21.434" v="1407" actId="14826"/>
          <ac:picMkLst>
            <pc:docMk/>
            <pc:sldMk cId="3295953382" sldId="257"/>
            <ac:picMk id="6" creationId="{E1B8A716-DD51-C834-6D46-F2766DBACCB6}"/>
          </ac:picMkLst>
        </pc:picChg>
      </pc:sldChg>
      <pc:sldChg chg="addSp delSp modSp new mod setBg delDesignElem">
        <pc:chgData name="chamundeshwari Kottur" userId="9f3738eca1d61e61" providerId="LiveId" clId="{47157697-2B2E-4366-9D1E-4BBD5A6B34B6}" dt="2026-05-03T23:29:40.448" v="4661" actId="1076"/>
        <pc:sldMkLst>
          <pc:docMk/>
          <pc:sldMk cId="400109872" sldId="258"/>
        </pc:sldMkLst>
        <pc:spChg chg="add mod ord">
          <ac:chgData name="chamundeshwari Kottur" userId="9f3738eca1d61e61" providerId="LiveId" clId="{47157697-2B2E-4366-9D1E-4BBD5A6B34B6}" dt="2026-05-03T23:29:09.607" v="4658" actId="1076"/>
          <ac:spMkLst>
            <pc:docMk/>
            <pc:sldMk cId="400109872" sldId="258"/>
            <ac:spMk id="4" creationId="{4E7B8A73-AF9E-2C4D-E3B1-71E19A070E8E}"/>
          </ac:spMkLst>
        </pc:spChg>
        <pc:picChg chg="add mod">
          <ac:chgData name="chamundeshwari Kottur" userId="9f3738eca1d61e61" providerId="LiveId" clId="{47157697-2B2E-4366-9D1E-4BBD5A6B34B6}" dt="2026-05-03T23:29:40.448" v="4661" actId="1076"/>
          <ac:picMkLst>
            <pc:docMk/>
            <pc:sldMk cId="400109872" sldId="258"/>
            <ac:picMk id="5" creationId="{814B2D7C-4AD1-C30F-83ED-5A3D5BAC3A73}"/>
          </ac:picMkLst>
        </pc:picChg>
        <pc:picChg chg="add mod ord">
          <ac:chgData name="chamundeshwari Kottur" userId="9f3738eca1d61e61" providerId="LiveId" clId="{47157697-2B2E-4366-9D1E-4BBD5A6B34B6}" dt="2026-05-03T23:29:20.206" v="4659" actId="1076"/>
          <ac:picMkLst>
            <pc:docMk/>
            <pc:sldMk cId="400109872" sldId="258"/>
            <ac:picMk id="6" creationId="{5AFF51E9-F157-68E3-2776-D07CCB876B85}"/>
          </ac:picMkLst>
        </pc:picChg>
        <pc:picChg chg="mod">
          <ac:chgData name="chamundeshwari Kottur" userId="9f3738eca1d61e61" providerId="LiveId" clId="{47157697-2B2E-4366-9D1E-4BBD5A6B34B6}" dt="2026-05-03T23:29:28.686" v="4660" actId="1076"/>
          <ac:picMkLst>
            <pc:docMk/>
            <pc:sldMk cId="400109872" sldId="258"/>
            <ac:picMk id="10" creationId="{8FA2F198-4526-179A-305D-91116AF7BF0C}"/>
          </ac:picMkLst>
        </pc:picChg>
      </pc:sldChg>
      <pc:sldChg chg="addSp delSp modSp new mod setBg delDesignElem">
        <pc:chgData name="chamundeshwari Kottur" userId="9f3738eca1d61e61" providerId="LiveId" clId="{47157697-2B2E-4366-9D1E-4BBD5A6B34B6}" dt="2026-05-03T23:31:24.662" v="4674" actId="1076"/>
        <pc:sldMkLst>
          <pc:docMk/>
          <pc:sldMk cId="3382200586" sldId="259"/>
        </pc:sldMkLst>
        <pc:spChg chg="mod">
          <ac:chgData name="chamundeshwari Kottur" userId="9f3738eca1d61e61" providerId="LiveId" clId="{47157697-2B2E-4366-9D1E-4BBD5A6B34B6}" dt="2026-04-23T21:09:46.379" v="1825" actId="27636"/>
          <ac:spMkLst>
            <pc:docMk/>
            <pc:sldMk cId="3382200586" sldId="259"/>
            <ac:spMk id="2" creationId="{CCEDF84B-390E-76F6-1561-A7CE9FF293B7}"/>
          </ac:spMkLst>
        </pc:spChg>
        <pc:spChg chg="add mod">
          <ac:chgData name="chamundeshwari Kottur" userId="9f3738eca1d61e61" providerId="LiveId" clId="{47157697-2B2E-4366-9D1E-4BBD5A6B34B6}" dt="2026-04-30T03:42:10.325" v="3817" actId="20577"/>
          <ac:spMkLst>
            <pc:docMk/>
            <pc:sldMk cId="3382200586" sldId="259"/>
            <ac:spMk id="6" creationId="{6383C4CB-699F-7430-0854-3CD7FDB5DAD6}"/>
          </ac:spMkLst>
        </pc:spChg>
        <pc:spChg chg="add mod">
          <ac:chgData name="chamundeshwari Kottur" userId="9f3738eca1d61e61" providerId="LiveId" clId="{47157697-2B2E-4366-9D1E-4BBD5A6B34B6}" dt="2026-05-03T23:31:24.662" v="4674" actId="1076"/>
          <ac:spMkLst>
            <pc:docMk/>
            <pc:sldMk cId="3382200586" sldId="259"/>
            <ac:spMk id="8" creationId="{4B3B8DDF-841C-58B5-91FC-3F28E72C4B18}"/>
          </ac:spMkLst>
        </pc:spChg>
        <pc:spChg chg="add mod">
          <ac:chgData name="chamundeshwari Kottur" userId="9f3738eca1d61e61" providerId="LiveId" clId="{47157697-2B2E-4366-9D1E-4BBD5A6B34B6}" dt="2026-05-03T23:31:06.141" v="4673" actId="20577"/>
          <ac:spMkLst>
            <pc:docMk/>
            <pc:sldMk cId="3382200586" sldId="259"/>
            <ac:spMk id="36" creationId="{EABF9DC8-981E-5D5C-9CDA-E899C68A0B45}"/>
          </ac:spMkLst>
        </pc:spChg>
      </pc:sldChg>
      <pc:sldChg chg="addSp delSp modSp new mod ord setBg delDesignElem">
        <pc:chgData name="chamundeshwari Kottur" userId="9f3738eca1d61e61" providerId="LiveId" clId="{47157697-2B2E-4366-9D1E-4BBD5A6B34B6}" dt="2026-05-03T23:34:10.305" v="4688" actId="478"/>
        <pc:sldMkLst>
          <pc:docMk/>
          <pc:sldMk cId="1640670419" sldId="261"/>
        </pc:sldMkLst>
        <pc:spChg chg="add mod">
          <ac:chgData name="chamundeshwari Kottur" userId="9f3738eca1d61e61" providerId="LiveId" clId="{47157697-2B2E-4366-9D1E-4BBD5A6B34B6}" dt="2026-04-30T19:47:40.483" v="4371" actId="1076"/>
          <ac:spMkLst>
            <pc:docMk/>
            <pc:sldMk cId="1640670419" sldId="261"/>
            <ac:spMk id="2" creationId="{4BA7CEA9-D81F-B8C6-0407-99278BF0CBB3}"/>
          </ac:spMkLst>
        </pc:spChg>
        <pc:spChg chg="add del mod">
          <ac:chgData name="chamundeshwari Kottur" userId="9f3738eca1d61e61" providerId="LiveId" clId="{47157697-2B2E-4366-9D1E-4BBD5A6B34B6}" dt="2026-05-03T23:34:10.305" v="4688" actId="478"/>
          <ac:spMkLst>
            <pc:docMk/>
            <pc:sldMk cId="1640670419" sldId="261"/>
            <ac:spMk id="4" creationId="{C872EC52-1D32-3318-7BD5-0191734678C3}"/>
          </ac:spMkLst>
        </pc:spChg>
        <pc:spChg chg="add mod ord">
          <ac:chgData name="chamundeshwari Kottur" userId="9f3738eca1d61e61" providerId="LiveId" clId="{47157697-2B2E-4366-9D1E-4BBD5A6B34B6}" dt="2026-04-29T22:18:59.557" v="3769" actId="20577"/>
          <ac:spMkLst>
            <pc:docMk/>
            <pc:sldMk cId="1640670419" sldId="261"/>
            <ac:spMk id="6" creationId="{9AED0AB9-857A-9BA5-97E5-7C8CE7FD129B}"/>
          </ac:spMkLst>
        </pc:spChg>
        <pc:picChg chg="add del mod ord modCrop">
          <ac:chgData name="chamundeshwari Kottur" userId="9f3738eca1d61e61" providerId="LiveId" clId="{47157697-2B2E-4366-9D1E-4BBD5A6B34B6}" dt="2026-05-03T23:34:10.305" v="4688" actId="478"/>
          <ac:picMkLst>
            <pc:docMk/>
            <pc:sldMk cId="1640670419" sldId="261"/>
            <ac:picMk id="5" creationId="{87471E71-3240-9DDA-8D7D-16D012522CB2}"/>
          </ac:picMkLst>
        </pc:picChg>
        <pc:picChg chg="add del mod">
          <ac:chgData name="chamundeshwari Kottur" userId="9f3738eca1d61e61" providerId="LiveId" clId="{47157697-2B2E-4366-9D1E-4BBD5A6B34B6}" dt="2026-05-03T23:34:09.281" v="4687" actId="22"/>
          <ac:picMkLst>
            <pc:docMk/>
            <pc:sldMk cId="1640670419" sldId="261"/>
            <ac:picMk id="8" creationId="{47CEA74E-FC6C-1546-3A01-EBA4E59F9EB7}"/>
          </ac:picMkLst>
        </pc:picChg>
      </pc:sldChg>
      <pc:sldChg chg="addSp delSp modSp new mod ord">
        <pc:chgData name="chamundeshwari Kottur" userId="9f3738eca1d61e61" providerId="LiveId" clId="{47157697-2B2E-4366-9D1E-4BBD5A6B34B6}" dt="2026-05-03T23:27:07.810" v="4646" actId="1076"/>
        <pc:sldMkLst>
          <pc:docMk/>
          <pc:sldMk cId="1370102556" sldId="262"/>
        </pc:sldMkLst>
        <pc:spChg chg="mod">
          <ac:chgData name="chamundeshwari Kottur" userId="9f3738eca1d61e61" providerId="LiveId" clId="{47157697-2B2E-4366-9D1E-4BBD5A6B34B6}" dt="2026-04-23T18:59:19.212" v="1388" actId="27636"/>
          <ac:spMkLst>
            <pc:docMk/>
            <pc:sldMk cId="1370102556" sldId="262"/>
            <ac:spMk id="2" creationId="{A5D89505-A607-8640-BEFD-31627F390D5D}"/>
          </ac:spMkLst>
        </pc:spChg>
        <pc:spChg chg="mod">
          <ac:chgData name="chamundeshwari Kottur" userId="9f3738eca1d61e61" providerId="LiveId" clId="{47157697-2B2E-4366-9D1E-4BBD5A6B34B6}" dt="2026-05-03T23:27:07.810" v="4646" actId="1076"/>
          <ac:spMkLst>
            <pc:docMk/>
            <pc:sldMk cId="1370102556" sldId="262"/>
            <ac:spMk id="3" creationId="{25FF2C2B-3D90-4442-7BD3-09B577211008}"/>
          </ac:spMkLst>
        </pc:spChg>
        <pc:spChg chg="add mod">
          <ac:chgData name="chamundeshwari Kottur" userId="9f3738eca1d61e61" providerId="LiveId" clId="{47157697-2B2E-4366-9D1E-4BBD5A6B34B6}" dt="2026-05-03T23:26:42.959" v="4642" actId="1076"/>
          <ac:spMkLst>
            <pc:docMk/>
            <pc:sldMk cId="1370102556" sldId="262"/>
            <ac:spMk id="4" creationId="{42A26B74-DD89-6AAD-93EF-3DD72F96B8FB}"/>
          </ac:spMkLst>
        </pc:spChg>
        <pc:picChg chg="add mod">
          <ac:chgData name="chamundeshwari Kottur" userId="9f3738eca1d61e61" providerId="LiveId" clId="{47157697-2B2E-4366-9D1E-4BBD5A6B34B6}" dt="2026-04-23T18:48:19.938" v="1278" actId="1076"/>
          <ac:picMkLst>
            <pc:docMk/>
            <pc:sldMk cId="1370102556" sldId="262"/>
            <ac:picMk id="5" creationId="{F43BF1C3-B8FC-CE5B-647F-2261AA87D13B}"/>
          </ac:picMkLst>
        </pc:picChg>
        <pc:picChg chg="add mod">
          <ac:chgData name="chamundeshwari Kottur" userId="9f3738eca1d61e61" providerId="LiveId" clId="{47157697-2B2E-4366-9D1E-4BBD5A6B34B6}" dt="2026-04-24T01:22:48.987" v="3060" actId="1076"/>
          <ac:picMkLst>
            <pc:docMk/>
            <pc:sldMk cId="1370102556" sldId="262"/>
            <ac:picMk id="8" creationId="{A65D6077-45F5-A11E-6985-875182D930F8}"/>
          </ac:picMkLst>
        </pc:picChg>
      </pc:sldChg>
      <pc:sldChg chg="addSp delSp modSp new mod ord">
        <pc:chgData name="chamundeshwari Kottur" userId="9f3738eca1d61e61" providerId="LiveId" clId="{47157697-2B2E-4366-9D1E-4BBD5A6B34B6}" dt="2026-04-30T20:59:40.694" v="4428" actId="20577"/>
        <pc:sldMkLst>
          <pc:docMk/>
          <pc:sldMk cId="2991758675" sldId="263"/>
        </pc:sldMkLst>
        <pc:spChg chg="mod">
          <ac:chgData name="chamundeshwari Kottur" userId="9f3738eca1d61e61" providerId="LiveId" clId="{47157697-2B2E-4366-9D1E-4BBD5A6B34B6}" dt="2026-04-30T05:38:29.741" v="3880" actId="20577"/>
          <ac:spMkLst>
            <pc:docMk/>
            <pc:sldMk cId="2991758675" sldId="263"/>
            <ac:spMk id="2" creationId="{67C3C526-6D59-6BD9-6158-FB90B0107149}"/>
          </ac:spMkLst>
        </pc:spChg>
        <pc:spChg chg="mod">
          <ac:chgData name="chamundeshwari Kottur" userId="9f3738eca1d61e61" providerId="LiveId" clId="{47157697-2B2E-4366-9D1E-4BBD5A6B34B6}" dt="2026-04-30T04:11:50.559" v="3833" actId="1076"/>
          <ac:spMkLst>
            <pc:docMk/>
            <pc:sldMk cId="2991758675" sldId="263"/>
            <ac:spMk id="3" creationId="{9DDB1DE5-18FD-D1F0-44A7-1C2B08684DCA}"/>
          </ac:spMkLst>
        </pc:spChg>
        <pc:spChg chg="add mod">
          <ac:chgData name="chamundeshwari Kottur" userId="9f3738eca1d61e61" providerId="LiveId" clId="{47157697-2B2E-4366-9D1E-4BBD5A6B34B6}" dt="2026-04-30T20:59:40.694" v="4428" actId="20577"/>
          <ac:spMkLst>
            <pc:docMk/>
            <pc:sldMk cId="2991758675" sldId="263"/>
            <ac:spMk id="4" creationId="{F44D2EB5-9D4D-68EC-052F-9939CF8EA1EC}"/>
          </ac:spMkLst>
        </pc:spChg>
        <pc:spChg chg="add mod">
          <ac:chgData name="chamundeshwari Kottur" userId="9f3738eca1d61e61" providerId="LiveId" clId="{47157697-2B2E-4366-9D1E-4BBD5A6B34B6}" dt="2026-04-30T19:33:37.615" v="4173" actId="1076"/>
          <ac:spMkLst>
            <pc:docMk/>
            <pc:sldMk cId="2991758675" sldId="263"/>
            <ac:spMk id="5" creationId="{73210F87-46C5-17EE-BAC5-9499B29CC8AC}"/>
          </ac:spMkLst>
        </pc:spChg>
        <pc:spChg chg="add mod">
          <ac:chgData name="chamundeshwari Kottur" userId="9f3738eca1d61e61" providerId="LiveId" clId="{47157697-2B2E-4366-9D1E-4BBD5A6B34B6}" dt="2026-04-30T19:33:42.806" v="4174" actId="1076"/>
          <ac:spMkLst>
            <pc:docMk/>
            <pc:sldMk cId="2991758675" sldId="263"/>
            <ac:spMk id="6" creationId="{FBAE0FB5-12E1-30E2-BD89-388107372462}"/>
          </ac:spMkLst>
        </pc:spChg>
        <pc:spChg chg="add mod">
          <ac:chgData name="chamundeshwari Kottur" userId="9f3738eca1d61e61" providerId="LiveId" clId="{47157697-2B2E-4366-9D1E-4BBD5A6B34B6}" dt="2026-04-30T19:33:49.527" v="4175" actId="1076"/>
          <ac:spMkLst>
            <pc:docMk/>
            <pc:sldMk cId="2991758675" sldId="263"/>
            <ac:spMk id="7" creationId="{56549AF1-AD37-0A2A-1F1C-FFBC1B8CADF0}"/>
          </ac:spMkLst>
        </pc:spChg>
      </pc:sldChg>
      <pc:sldChg chg="addSp delSp modSp new mod modClrScheme chgLayout">
        <pc:chgData name="chamundeshwari Kottur" userId="9f3738eca1d61e61" providerId="LiveId" clId="{47157697-2B2E-4366-9D1E-4BBD5A6B34B6}" dt="2026-04-30T21:56:24.951" v="4450" actId="14734"/>
        <pc:sldMkLst>
          <pc:docMk/>
          <pc:sldMk cId="732057134" sldId="271"/>
        </pc:sldMkLst>
        <pc:spChg chg="add mod">
          <ac:chgData name="chamundeshwari Kottur" userId="9f3738eca1d61e61" providerId="LiveId" clId="{47157697-2B2E-4366-9D1E-4BBD5A6B34B6}" dt="2026-04-30T05:09:17.465" v="3847" actId="1076"/>
          <ac:spMkLst>
            <pc:docMk/>
            <pc:sldMk cId="732057134" sldId="271"/>
            <ac:spMk id="6" creationId="{50A0196A-3F89-1D3B-2B5A-C7C0EEA20791}"/>
          </ac:spMkLst>
        </pc:spChg>
        <pc:spChg chg="add mod">
          <ac:chgData name="chamundeshwari Kottur" userId="9f3738eca1d61e61" providerId="LiveId" clId="{47157697-2B2E-4366-9D1E-4BBD5A6B34B6}" dt="2026-04-30T21:56:12.717" v="4449" actId="20577"/>
          <ac:spMkLst>
            <pc:docMk/>
            <pc:sldMk cId="732057134" sldId="271"/>
            <ac:spMk id="7" creationId="{D843AFC7-F395-727C-CC35-7B71B9965143}"/>
          </ac:spMkLst>
        </pc:spChg>
        <pc:graphicFrameChg chg="add mod modGraphic">
          <ac:chgData name="chamundeshwari Kottur" userId="9f3738eca1d61e61" providerId="LiveId" clId="{47157697-2B2E-4366-9D1E-4BBD5A6B34B6}" dt="2026-04-30T21:56:24.951" v="4450" actId="14734"/>
          <ac:graphicFrameMkLst>
            <pc:docMk/>
            <pc:sldMk cId="732057134" sldId="271"/>
            <ac:graphicFrameMk id="2" creationId="{A523FE5C-6949-90C7-C27A-EB946A86A54C}"/>
          </ac:graphicFrameMkLst>
        </pc:graphicFrameChg>
      </pc:sldChg>
      <pc:sldChg chg="addSp delSp modSp new mod">
        <pc:chgData name="chamundeshwari Kottur" userId="9f3738eca1d61e61" providerId="LiveId" clId="{47157697-2B2E-4366-9D1E-4BBD5A6B34B6}" dt="2026-05-03T23:24:33.893" v="4630" actId="14100"/>
        <pc:sldMkLst>
          <pc:docMk/>
          <pc:sldMk cId="3344640073" sldId="275"/>
        </pc:sldMkLst>
        <pc:spChg chg="mod">
          <ac:chgData name="chamundeshwari Kottur" userId="9f3738eca1d61e61" providerId="LiveId" clId="{47157697-2B2E-4366-9D1E-4BBD5A6B34B6}" dt="2026-04-26T18:29:29.557" v="3178" actId="122"/>
          <ac:spMkLst>
            <pc:docMk/>
            <pc:sldMk cId="3344640073" sldId="275"/>
            <ac:spMk id="2" creationId="{AF0CCFB8-C3A8-63E1-4668-D36D2C5336CC}"/>
          </ac:spMkLst>
        </pc:spChg>
        <pc:graphicFrameChg chg="add mod modGraphic">
          <ac:chgData name="chamundeshwari Kottur" userId="9f3738eca1d61e61" providerId="LiveId" clId="{47157697-2B2E-4366-9D1E-4BBD5A6B34B6}" dt="2026-05-03T23:23:49.697" v="4625" actId="2165"/>
          <ac:graphicFrameMkLst>
            <pc:docMk/>
            <pc:sldMk cId="3344640073" sldId="275"/>
            <ac:graphicFrameMk id="8" creationId="{39DC31F7-B79E-68AF-02EC-EC51BB0A815C}"/>
          </ac:graphicFrameMkLst>
        </pc:graphicFrameChg>
        <pc:picChg chg="add del mod">
          <ac:chgData name="chamundeshwari Kottur" userId="9f3738eca1d61e61" providerId="LiveId" clId="{47157697-2B2E-4366-9D1E-4BBD5A6B34B6}" dt="2026-05-03T23:24:11.294" v="4626" actId="478"/>
          <ac:picMkLst>
            <pc:docMk/>
            <pc:sldMk cId="3344640073" sldId="275"/>
            <ac:picMk id="4" creationId="{F9D8FE8F-483C-9F00-FF89-E2FE2C65471C}"/>
          </ac:picMkLst>
        </pc:picChg>
        <pc:picChg chg="add mod">
          <ac:chgData name="chamundeshwari Kottur" userId="9f3738eca1d61e61" providerId="LiveId" clId="{47157697-2B2E-4366-9D1E-4BBD5A6B34B6}" dt="2026-05-03T23:24:33.893" v="4630" actId="14100"/>
          <ac:picMkLst>
            <pc:docMk/>
            <pc:sldMk cId="3344640073" sldId="275"/>
            <ac:picMk id="5" creationId="{FC07B0F4-CCEA-797E-A756-73A506BDBEA7}"/>
          </ac:picMkLst>
        </pc:picChg>
      </pc:sldChg>
      <pc:sldChg chg="addSp delSp modSp new mod modClrScheme chgLayout">
        <pc:chgData name="chamundeshwari Kottur" userId="9f3738eca1d61e61" providerId="LiveId" clId="{47157697-2B2E-4366-9D1E-4BBD5A6B34B6}" dt="2026-05-03T23:30:43.623" v="4670" actId="1076"/>
        <pc:sldMkLst>
          <pc:docMk/>
          <pc:sldMk cId="3121602240" sldId="276"/>
        </pc:sldMkLst>
        <pc:spChg chg="add mod">
          <ac:chgData name="chamundeshwari Kottur" userId="9f3738eca1d61e61" providerId="LiveId" clId="{47157697-2B2E-4366-9D1E-4BBD5A6B34B6}" dt="2026-05-03T23:30:05.691" v="4664" actId="20577"/>
          <ac:spMkLst>
            <pc:docMk/>
            <pc:sldMk cId="3121602240" sldId="276"/>
            <ac:spMk id="6" creationId="{31E8F0E0-4BE5-78E8-FFD9-F53274C9F37A}"/>
          </ac:spMkLst>
        </pc:spChg>
        <pc:spChg chg="add mod">
          <ac:chgData name="chamundeshwari Kottur" userId="9f3738eca1d61e61" providerId="LiveId" clId="{47157697-2B2E-4366-9D1E-4BBD5A6B34B6}" dt="2026-05-03T23:30:24.873" v="4667" actId="1076"/>
          <ac:spMkLst>
            <pc:docMk/>
            <pc:sldMk cId="3121602240" sldId="276"/>
            <ac:spMk id="7" creationId="{52E7A7FE-5FE0-DD95-16DE-311BF66C09F2}"/>
          </ac:spMkLst>
        </pc:spChg>
        <pc:spChg chg="add mod">
          <ac:chgData name="chamundeshwari Kottur" userId="9f3738eca1d61e61" providerId="LiveId" clId="{47157697-2B2E-4366-9D1E-4BBD5A6B34B6}" dt="2026-05-03T23:30:43.623" v="4670" actId="1076"/>
          <ac:spMkLst>
            <pc:docMk/>
            <pc:sldMk cId="3121602240" sldId="276"/>
            <ac:spMk id="8" creationId="{E1D1F7A0-7ED5-288A-2BA2-7A6420BD7E33}"/>
          </ac:spMkLst>
        </pc:spChg>
        <pc:picChg chg="add mod ord">
          <ac:chgData name="chamundeshwari Kottur" userId="9f3738eca1d61e61" providerId="LiveId" clId="{47157697-2B2E-4366-9D1E-4BBD5A6B34B6}" dt="2026-04-30T06:01:16.112" v="3883" actId="14100"/>
          <ac:picMkLst>
            <pc:docMk/>
            <pc:sldMk cId="3121602240" sldId="276"/>
            <ac:picMk id="5" creationId="{B025F918-C596-7C48-DEA7-A3BC2BE0B212}"/>
          </ac:picMkLst>
        </pc:picChg>
      </pc:sldChg>
      <pc:sldChg chg="addSp delSp modSp new mod modClrScheme chgLayout">
        <pc:chgData name="chamundeshwari Kottur" userId="9f3738eca1d61e61" providerId="LiveId" clId="{47157697-2B2E-4366-9D1E-4BBD5A6B34B6}" dt="2026-04-30T19:51:03.689" v="4379" actId="255"/>
        <pc:sldMkLst>
          <pc:docMk/>
          <pc:sldMk cId="2888829562" sldId="277"/>
        </pc:sldMkLst>
        <pc:spChg chg="add mod">
          <ac:chgData name="chamundeshwari Kottur" userId="9f3738eca1d61e61" providerId="LiveId" clId="{47157697-2B2E-4366-9D1E-4BBD5A6B34B6}" dt="2026-04-30T19:51:03.689" v="4379" actId="255"/>
          <ac:spMkLst>
            <pc:docMk/>
            <pc:sldMk cId="2888829562" sldId="277"/>
            <ac:spMk id="7" creationId="{18FA68B5-ADB3-8833-3368-D044A98D865B}"/>
          </ac:spMkLst>
        </pc:spChg>
        <pc:picChg chg="add mod modCrop">
          <ac:chgData name="chamundeshwari Kottur" userId="9f3738eca1d61e61" providerId="LiveId" clId="{47157697-2B2E-4366-9D1E-4BBD5A6B34B6}" dt="2026-04-30T19:50:30.804" v="4377" actId="1076"/>
          <ac:picMkLst>
            <pc:docMk/>
            <pc:sldMk cId="2888829562" sldId="277"/>
            <ac:picMk id="5" creationId="{30A9D7E8-2ED7-20FF-646B-EE430ABCFC8F}"/>
          </ac:picMkLst>
        </pc:picChg>
        <pc:inkChg chg="add">
          <ac:chgData name="chamundeshwari Kottur" userId="9f3738eca1d61e61" providerId="LiveId" clId="{47157697-2B2E-4366-9D1E-4BBD5A6B34B6}" dt="2026-04-30T19:02:44.793" v="4163"/>
          <ac:inkMkLst>
            <pc:docMk/>
            <pc:sldMk cId="2888829562" sldId="277"/>
            <ac:inkMk id="3" creationId="{98D0F697-5E87-D11A-2851-075B815543F0}"/>
          </ac:inkMkLst>
        </pc:inkChg>
        <pc:inkChg chg="add">
          <ac:chgData name="chamundeshwari Kottur" userId="9f3738eca1d61e61" providerId="LiveId" clId="{47157697-2B2E-4366-9D1E-4BBD5A6B34B6}" dt="2026-04-30T19:02:57.602" v="4164" actId="9405"/>
          <ac:inkMkLst>
            <pc:docMk/>
            <pc:sldMk cId="2888829562" sldId="277"/>
            <ac:inkMk id="4" creationId="{3A424708-6143-EAC5-47AC-660E0192A737}"/>
          </ac:inkMkLst>
        </pc:inkChg>
      </pc:sldChg>
      <pc:sldChg chg="addSp delSp modSp new mod setBg modClrScheme setClrOvrMap chgLayout">
        <pc:chgData name="chamundeshwari Kottur" userId="9f3738eca1d61e61" providerId="LiveId" clId="{47157697-2B2E-4366-9D1E-4BBD5A6B34B6}" dt="2026-05-01T00:39:14.380" v="4506" actId="26606"/>
        <pc:sldMkLst>
          <pc:docMk/>
          <pc:sldMk cId="2851924950" sldId="278"/>
        </pc:sldMkLst>
        <pc:spChg chg="add mod ord">
          <ac:chgData name="chamundeshwari Kottur" userId="9f3738eca1d61e61" providerId="LiveId" clId="{47157697-2B2E-4366-9D1E-4BBD5A6B34B6}" dt="2026-05-01T00:39:14.380" v="4506" actId="26606"/>
          <ac:spMkLst>
            <pc:docMk/>
            <pc:sldMk cId="2851924950" sldId="278"/>
            <ac:spMk id="4" creationId="{8166949E-BDC9-F891-E60D-45B200F749B7}"/>
          </ac:spMkLst>
        </pc:spChg>
        <pc:spChg chg="add">
          <ac:chgData name="chamundeshwari Kottur" userId="9f3738eca1d61e61" providerId="LiveId" clId="{47157697-2B2E-4366-9D1E-4BBD5A6B34B6}" dt="2026-05-01T00:39:14.380" v="4506" actId="26606"/>
          <ac:spMkLst>
            <pc:docMk/>
            <pc:sldMk cId="2851924950" sldId="278"/>
            <ac:spMk id="28" creationId="{BAD76F3E-3A97-486B-B402-44400A8B9173}"/>
          </ac:spMkLst>
        </pc:spChg>
        <pc:spChg chg="add">
          <ac:chgData name="chamundeshwari Kottur" userId="9f3738eca1d61e61" providerId="LiveId" clId="{47157697-2B2E-4366-9D1E-4BBD5A6B34B6}" dt="2026-05-01T00:39:14.380" v="4506" actId="26606"/>
          <ac:spMkLst>
            <pc:docMk/>
            <pc:sldMk cId="2851924950" sldId="278"/>
            <ac:spMk id="29" creationId="{391F6B52-91F4-4AEB-B6DB-29FEBCF28C8B}"/>
          </ac:spMkLst>
        </pc:spChg>
        <pc:spChg chg="add">
          <ac:chgData name="chamundeshwari Kottur" userId="9f3738eca1d61e61" providerId="LiveId" clId="{47157697-2B2E-4366-9D1E-4BBD5A6B34B6}" dt="2026-05-01T00:39:14.380" v="4506" actId="26606"/>
          <ac:spMkLst>
            <pc:docMk/>
            <pc:sldMk cId="2851924950" sldId="278"/>
            <ac:spMk id="30" creationId="{2CD6F061-7C53-44F4-9794-953DB70A451B}"/>
          </ac:spMkLst>
        </pc:spChg>
      </pc:sldChg>
      <pc:sldChg chg="addSp delSp modSp new mod">
        <pc:chgData name="chamundeshwari Kottur" userId="9f3738eca1d61e61" providerId="LiveId" clId="{47157697-2B2E-4366-9D1E-4BBD5A6B34B6}" dt="2026-05-01T02:14:29.783" v="4586" actId="14100"/>
        <pc:sldMkLst>
          <pc:docMk/>
          <pc:sldMk cId="4126553981" sldId="279"/>
        </pc:sldMkLst>
        <pc:spChg chg="mod">
          <ac:chgData name="chamundeshwari Kottur" userId="9f3738eca1d61e61" providerId="LiveId" clId="{47157697-2B2E-4366-9D1E-4BBD5A6B34B6}" dt="2026-05-01T00:46:31.678" v="4582" actId="122"/>
          <ac:spMkLst>
            <pc:docMk/>
            <pc:sldMk cId="4126553981" sldId="279"/>
            <ac:spMk id="2" creationId="{B1822BA5-0821-CAA8-F78C-85F8E620F51D}"/>
          </ac:spMkLst>
        </pc:spChg>
        <pc:picChg chg="add mod ord">
          <ac:chgData name="chamundeshwari Kottur" userId="9f3738eca1d61e61" providerId="LiveId" clId="{47157697-2B2E-4366-9D1E-4BBD5A6B34B6}" dt="2026-05-01T02:14:29.783" v="4586" actId="14100"/>
          <ac:picMkLst>
            <pc:docMk/>
            <pc:sldMk cId="4126553981" sldId="279"/>
            <ac:picMk id="5" creationId="{50D935AF-4794-1794-BFD8-4B2368ACF85E}"/>
          </ac:picMkLst>
        </pc:picChg>
      </pc:sldChg>
      <pc:sldChg chg="addSp delSp modSp new mod">
        <pc:chgData name="chamundeshwari Kottur" userId="9f3738eca1d61e61" providerId="LiveId" clId="{47157697-2B2E-4366-9D1E-4BBD5A6B34B6}" dt="2026-05-03T23:25:28.523" v="4638" actId="20577"/>
        <pc:sldMkLst>
          <pc:docMk/>
          <pc:sldMk cId="570865797" sldId="280"/>
        </pc:sldMkLst>
        <pc:spChg chg="mod">
          <ac:chgData name="chamundeshwari Kottur" userId="9f3738eca1d61e61" providerId="LiveId" clId="{47157697-2B2E-4366-9D1E-4BBD5A6B34B6}" dt="2026-05-03T23:25:28.523" v="4638" actId="20577"/>
          <ac:spMkLst>
            <pc:docMk/>
            <pc:sldMk cId="570865797" sldId="280"/>
            <ac:spMk id="2" creationId="{6E658746-2B3D-C434-FB6E-AC9240130A86}"/>
          </ac:spMkLst>
        </pc:spChg>
        <pc:picChg chg="add mod ord">
          <ac:chgData name="chamundeshwari Kottur" userId="9f3738eca1d61e61" providerId="LiveId" clId="{47157697-2B2E-4366-9D1E-4BBD5A6B34B6}" dt="2026-05-01T02:14:42.016" v="4588" actId="1076"/>
          <ac:picMkLst>
            <pc:docMk/>
            <pc:sldMk cId="570865797" sldId="280"/>
            <ac:picMk id="5" creationId="{C3418D0A-FF14-52F7-859A-FC90FABE4EDA}"/>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9:02:44.793"/>
    </inkml:context>
    <inkml:brush xml:id="br0">
      <inkml:brushProperty name="width" value="0.035" units="cm"/>
      <inkml:brushProperty name="height" value="0.035" units="cm"/>
    </inkml:brush>
  </inkml:definitions>
  <inkml:trace contextRef="#ctx0" brushRef="#br0">1 0 23518,'0'9752'0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9:02:57.600"/>
    </inkml:context>
    <inkml:brush xml:id="br0">
      <inkml:brushProperty name="width" value="0.035" units="cm"/>
      <inkml:brushProperty name="height" value="0.035" units="cm"/>
    </inkml:brush>
  </inkml:definitions>
  <inkml:trace contextRef="#ctx0" brushRef="#br0">0 1 24575,'0'4'0,"0"5"0,0 5 0,0 4 0,0 4 0,0 1 0,0 1 0,0 0 0,0 0 0,0 0 0,0 0 0,0 0 0,0 0 0,0-1 0,0 0 0,0 0 0,0-3-8191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A0A5B-F0AB-4314-8019-F3327F91900B}"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FC8EB8-F09B-4CEE-BCD8-0CB77E809831}" type="slidenum">
              <a:rPr lang="en-US" smtClean="0"/>
              <a:t>‹#›</a:t>
            </a:fld>
            <a:endParaRPr lang="en-US"/>
          </a:p>
        </p:txBody>
      </p:sp>
    </p:spTree>
    <p:extLst>
      <p:ext uri="{BB962C8B-B14F-4D97-AF65-F5344CB8AC3E}">
        <p14:creationId xmlns:p14="http://schemas.microsoft.com/office/powerpoint/2010/main" val="366025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FC8EB8-F09B-4CEE-BCD8-0CB77E809831}" type="slidenum">
              <a:rPr lang="en-US" smtClean="0"/>
              <a:t>6</a:t>
            </a:fld>
            <a:endParaRPr lang="en-US"/>
          </a:p>
        </p:txBody>
      </p:sp>
    </p:spTree>
    <p:extLst>
      <p:ext uri="{BB962C8B-B14F-4D97-AF65-F5344CB8AC3E}">
        <p14:creationId xmlns:p14="http://schemas.microsoft.com/office/powerpoint/2010/main" val="2863496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1B2EB-38F4-77CC-29AC-188B175E9C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B8DFDA-C113-CE27-0DE3-325E2399A8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04BBC3-B6E9-A0AC-DDDC-23DF46BD9F14}"/>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26107D57-84F0-B1E9-DF91-9CA8705C31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560400-3CC0-D8F6-D032-FD7A68F228B2}"/>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35125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D7F2-B22B-922B-B1F8-A3C102F1EF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B9A516-3270-7A72-247D-A20658B638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2FA3B4-2447-C280-6970-EB9FD7DC1420}"/>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200E2318-A802-AFEC-3BFB-847BD49F05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04112-0F64-AEDC-6D4C-040C79E3CAE7}"/>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58772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6A1EA-68D2-21FB-B219-DB4E4F08DB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3027D1-7022-83A7-FF6C-7E5156EC64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11CB15-F420-BC1B-2BEC-DC107F5803BD}"/>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E32B36A2-DE3F-BF42-D982-8AB06EF7EA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B02AF0-B26C-0457-3440-59ACC5BC0890}"/>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24828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CE64-9A34-D35D-63B2-BC4BC4C38C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0590B1-FCA2-4D2D-4B10-67745D1DC3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00D6B6-7ECD-0FA8-1318-9DB68052DC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F76449-FF2E-FAB2-8953-BC71B8C9C92F}"/>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6" name="Footer Placeholder 5">
            <a:extLst>
              <a:ext uri="{FF2B5EF4-FFF2-40B4-BE49-F238E27FC236}">
                <a16:creationId xmlns:a16="http://schemas.microsoft.com/office/drawing/2014/main" id="{B427EFA3-26C0-DD94-DB8C-7EE1D03FB1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001648-ABD7-8704-AC2B-70E5242BED1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24054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937E1-6D48-F644-3A15-A8D0674E60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E7EBF1-7B62-8FB9-CE60-CA5D54CB3E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372F50-73DD-2956-621B-9EBE170ACC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F87CF6-B47F-17CB-8C53-EE225855E2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A5507B-3061-F7A6-23A8-FB17B6A4D4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26845A-B1F3-C79A-C42B-0C6FF1680FC4}"/>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8" name="Footer Placeholder 7">
            <a:extLst>
              <a:ext uri="{FF2B5EF4-FFF2-40B4-BE49-F238E27FC236}">
                <a16:creationId xmlns:a16="http://schemas.microsoft.com/office/drawing/2014/main" id="{4D5E771D-7B81-C6DE-80C3-2A90BB8190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CD8D67-04F3-206F-1ABA-1F415A7F7487}"/>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42020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398D2-5CDF-C90B-5253-656DDA3A86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589D2F-8B62-D64A-00E4-3EB0E0503EA4}"/>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4" name="Footer Placeholder 3">
            <a:extLst>
              <a:ext uri="{FF2B5EF4-FFF2-40B4-BE49-F238E27FC236}">
                <a16:creationId xmlns:a16="http://schemas.microsoft.com/office/drawing/2014/main" id="{2E779522-2808-5726-FC0C-C7CB0FD912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9D52FC-18DB-755D-20C9-C6724AA5FE2F}"/>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27528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678C66-809D-FE40-7142-BFD25CD58F28}"/>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3" name="Footer Placeholder 2">
            <a:extLst>
              <a:ext uri="{FF2B5EF4-FFF2-40B4-BE49-F238E27FC236}">
                <a16:creationId xmlns:a16="http://schemas.microsoft.com/office/drawing/2014/main" id="{1CC3591B-BFB9-7825-7628-8D56D5D484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C702AD-F099-3E97-BADF-413316193F8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74136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C3AF-5F8A-7AE5-1F51-668495F711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819B66-2E3D-7994-03A2-AE7ECABB6F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DA9442-FE0E-62BD-0797-7FD5672729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D7AA2-2442-7442-3393-0085FB42218F}"/>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6" name="Footer Placeholder 5">
            <a:extLst>
              <a:ext uri="{FF2B5EF4-FFF2-40B4-BE49-F238E27FC236}">
                <a16:creationId xmlns:a16="http://schemas.microsoft.com/office/drawing/2014/main" id="{DD0EE845-67C1-84B7-5BD5-17078ABF2A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E97660-B29D-351F-9E58-6F6FCABE1A8F}"/>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83923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834C4-CC3A-AE47-8DC4-0CE5DA9CF4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3AA81C-9478-4A12-7645-DA0918F2B4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9330FC-26C0-6C31-904A-B5E36AD05B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17B361-2A52-21A3-D5A8-9E96F77C9046}"/>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6" name="Footer Placeholder 5">
            <a:extLst>
              <a:ext uri="{FF2B5EF4-FFF2-40B4-BE49-F238E27FC236}">
                <a16:creationId xmlns:a16="http://schemas.microsoft.com/office/drawing/2014/main" id="{2091D156-A9B7-C3AC-F441-C8BB116A16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3EE7B0-9579-8BA3-34E8-45C7762A6F23}"/>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64088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82BF-F368-0893-BE09-5381449C85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B4D583-B9C2-E9AD-3532-D240D2EC00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5A603E-F923-1C95-25CB-45BE8C496F5F}"/>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C4D09812-8D91-209D-B7EE-3377D1C80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50455-C951-3D2C-2227-8F4D4DFCF9A6}"/>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51980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945AD4-143E-9D08-63C4-375A713A96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A7E414-9331-780A-4B29-428E6A6576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B57789-6E7D-6DDF-B65A-356DC37FBFB3}"/>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022CEDE1-9E03-510D-C399-4288DD83EF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6F7408-2C2F-48B5-7458-A8B0E4ADBBD8}"/>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32389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F3B48-5F41-A136-F13B-58B11E3FDF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2C6575-A86C-3F4E-233A-0EA4237E98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276AE-F9F6-B7EC-063E-1EFA6B3DF4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0C50CD-E178-4744-9B35-B2F624D6C5E9}" type="datetimeFigureOut">
              <a:rPr lang="en-US" smtClean="0"/>
              <a:pPr/>
              <a:t>5/3/2026</a:t>
            </a:fld>
            <a:endParaRPr lang="en-US"/>
          </a:p>
        </p:txBody>
      </p:sp>
      <p:sp>
        <p:nvSpPr>
          <p:cNvPr id="5" name="Footer Placeholder 4">
            <a:extLst>
              <a:ext uri="{FF2B5EF4-FFF2-40B4-BE49-F238E27FC236}">
                <a16:creationId xmlns:a16="http://schemas.microsoft.com/office/drawing/2014/main" id="{075AA7A4-917D-CA72-8E4C-48D7E72C3F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7D516971-1EB1-765D-3A6E-40D09A9564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725688497"/>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customXml" Target="../ink/ink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3AEC6-FBCB-CF1A-EFE0-9689E34CCD4B}"/>
              </a:ext>
            </a:extLst>
          </p:cNvPr>
          <p:cNvSpPr>
            <a:spLocks noGrp="1"/>
          </p:cNvSpPr>
          <p:nvPr>
            <p:ph type="ctrTitle"/>
          </p:nvPr>
        </p:nvSpPr>
        <p:spPr>
          <a:xfrm>
            <a:off x="7324846" y="978407"/>
            <a:ext cx="4358503" cy="3137941"/>
          </a:xfrm>
        </p:spPr>
        <p:txBody>
          <a:bodyPr anchor="t">
            <a:normAutofit/>
          </a:bodyPr>
          <a:lstStyle/>
          <a:p>
            <a:pPr>
              <a:lnSpc>
                <a:spcPct val="90000"/>
              </a:lnSpc>
            </a:pPr>
            <a:r>
              <a:rPr lang="en-US" sz="3300"/>
              <a:t>PREDICTING INTERNATIONAL ESCALATIONS AND NARRATIVE SHIFTS IN CONFLICT</a:t>
            </a:r>
          </a:p>
        </p:txBody>
      </p:sp>
      <p:sp>
        <p:nvSpPr>
          <p:cNvPr id="3" name="Subtitle 2">
            <a:extLst>
              <a:ext uri="{FF2B5EF4-FFF2-40B4-BE49-F238E27FC236}">
                <a16:creationId xmlns:a16="http://schemas.microsoft.com/office/drawing/2014/main" id="{324328FB-7554-AB21-2536-FB5761F35D05}"/>
              </a:ext>
            </a:extLst>
          </p:cNvPr>
          <p:cNvSpPr>
            <a:spLocks noGrp="1"/>
          </p:cNvSpPr>
          <p:nvPr>
            <p:ph type="subTitle" idx="1"/>
          </p:nvPr>
        </p:nvSpPr>
        <p:spPr>
          <a:xfrm>
            <a:off x="7001934" y="4469641"/>
            <a:ext cx="4680914" cy="1376976"/>
          </a:xfrm>
        </p:spPr>
        <p:txBody>
          <a:bodyPr anchor="b">
            <a:normAutofit/>
          </a:bodyPr>
          <a:lstStyle/>
          <a:p>
            <a:r>
              <a:rPr lang="en-US" dirty="0"/>
              <a:t>NAME: CHAMUNDESHWARI KOTTUR</a:t>
            </a:r>
          </a:p>
        </p:txBody>
      </p:sp>
      <p:pic>
        <p:nvPicPr>
          <p:cNvPr id="5" name="Picture 4" descr="The image is a digital collage featuring a globe, chess pieces, and various abstract data visualizations, symbolizing the intersection of global strategy and information.&#10;&#10;AI-generated content may be incorrect.">
            <a:extLst>
              <a:ext uri="{FF2B5EF4-FFF2-40B4-BE49-F238E27FC236}">
                <a16:creationId xmlns:a16="http://schemas.microsoft.com/office/drawing/2014/main" id="{DE3F914B-2909-8F3B-AE1E-2C604737C756}"/>
              </a:ext>
            </a:extLst>
          </p:cNvPr>
          <p:cNvPicPr>
            <a:picLocks noChangeAspect="1"/>
          </p:cNvPicPr>
          <p:nvPr/>
        </p:nvPicPr>
        <p:blipFill>
          <a:blip r:embed="rId2"/>
          <a:srcRect l="16031" r="21236" b="-1"/>
          <a:stretch>
            <a:fillRect/>
          </a:stretch>
        </p:blipFill>
        <p:spPr>
          <a:xfrm>
            <a:off x="535521" y="508090"/>
            <a:ext cx="6323740" cy="5745379"/>
          </a:xfrm>
          <a:prstGeom prst="rect">
            <a:avLst/>
          </a:prstGeom>
        </p:spPr>
      </p:pic>
    </p:spTree>
    <p:extLst>
      <p:ext uri="{BB962C8B-B14F-4D97-AF65-F5344CB8AC3E}">
        <p14:creationId xmlns:p14="http://schemas.microsoft.com/office/powerpoint/2010/main" val="1956887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708C0D-966D-AD0A-F5A0-60237612B062}"/>
              </a:ext>
            </a:extLst>
          </p:cNvPr>
          <p:cNvSpPr>
            <a:spLocks noGrp="1"/>
          </p:cNvSpPr>
          <p:nvPr>
            <p:ph type="body" sz="half" idx="4294967295"/>
          </p:nvPr>
        </p:nvSpPr>
        <p:spPr>
          <a:xfrm>
            <a:off x="1045105" y="5647266"/>
            <a:ext cx="10444162" cy="817563"/>
          </a:xfrm>
        </p:spPr>
        <p:txBody>
          <a:bodyPr vert="horz" lIns="91440" tIns="45720" rIns="91440" bIns="45720" rtlCol="0">
            <a:normAutofit fontScale="85000" lnSpcReduction="10000"/>
          </a:bodyPr>
          <a:lstStyle/>
          <a:p>
            <a:pPr marL="0" indent="0">
              <a:buNone/>
            </a:pPr>
            <a:r>
              <a:rPr lang="en-US" b="1" dirty="0"/>
              <a:t>This project examines how conflict events and geopolitical risk signals drive escalation and how media narratives reflect these dynamics.</a:t>
            </a:r>
          </a:p>
        </p:txBody>
      </p:sp>
      <p:pic>
        <p:nvPicPr>
          <p:cNvPr id="6" name="Picture 5">
            <a:extLst>
              <a:ext uri="{FF2B5EF4-FFF2-40B4-BE49-F238E27FC236}">
                <a16:creationId xmlns:a16="http://schemas.microsoft.com/office/drawing/2014/main" id="{E1B8A716-DD51-C834-6D46-F2766DBACCB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1651" y="194791"/>
            <a:ext cx="10808698" cy="5301769"/>
          </a:xfrm>
          <a:prstGeom prst="rect">
            <a:avLst/>
          </a:prstGeom>
        </p:spPr>
      </p:pic>
    </p:spTree>
    <p:extLst>
      <p:ext uri="{BB962C8B-B14F-4D97-AF65-F5344CB8AC3E}">
        <p14:creationId xmlns:p14="http://schemas.microsoft.com/office/powerpoint/2010/main" val="3295953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9505-A607-8640-BEFD-31627F390D5D}"/>
              </a:ext>
            </a:extLst>
          </p:cNvPr>
          <p:cNvSpPr>
            <a:spLocks noGrp="1"/>
          </p:cNvSpPr>
          <p:nvPr>
            <p:ph type="title"/>
          </p:nvPr>
        </p:nvSpPr>
        <p:spPr>
          <a:xfrm>
            <a:off x="518160" y="196308"/>
            <a:ext cx="11155680" cy="586228"/>
          </a:xfrm>
        </p:spPr>
        <p:txBody>
          <a:bodyPr>
            <a:normAutofit fontScale="90000"/>
          </a:bodyPr>
          <a:lstStyle/>
          <a:p>
            <a:pPr algn="ctr"/>
            <a:r>
              <a:rPr lang="en-US" dirty="0"/>
              <a:t>DATA SOURCES</a:t>
            </a:r>
          </a:p>
        </p:txBody>
      </p:sp>
      <p:sp>
        <p:nvSpPr>
          <p:cNvPr id="3" name="Content Placeholder 2">
            <a:extLst>
              <a:ext uri="{FF2B5EF4-FFF2-40B4-BE49-F238E27FC236}">
                <a16:creationId xmlns:a16="http://schemas.microsoft.com/office/drawing/2014/main" id="{25FF2C2B-3D90-4442-7BD3-09B577211008}"/>
              </a:ext>
            </a:extLst>
          </p:cNvPr>
          <p:cNvSpPr>
            <a:spLocks noGrp="1"/>
          </p:cNvSpPr>
          <p:nvPr>
            <p:ph idx="1"/>
          </p:nvPr>
        </p:nvSpPr>
        <p:spPr>
          <a:xfrm>
            <a:off x="359229" y="1447101"/>
            <a:ext cx="6515100" cy="1878163"/>
          </a:xfrm>
        </p:spPr>
        <p:txBody>
          <a:bodyPr>
            <a:normAutofit fontScale="70000" lnSpcReduction="20000"/>
          </a:bodyPr>
          <a:lstStyle/>
          <a:p>
            <a:pPr marL="0" indent="0">
              <a:buNone/>
            </a:pPr>
            <a:r>
              <a:rPr lang="en-US" b="1" dirty="0"/>
              <a:t>1. ACLED Dataset (</a:t>
            </a:r>
            <a:r>
              <a:rPr lang="en-US" dirty="0"/>
              <a:t>Armed Conflict Location &amp; Event Data</a:t>
            </a:r>
            <a:r>
              <a:rPr lang="en-US" b="1" dirty="0"/>
              <a:t>)</a:t>
            </a:r>
          </a:p>
          <a:p>
            <a:r>
              <a:rPr lang="en-US" dirty="0"/>
              <a:t>Acquisition:  CSV data exported from </a:t>
            </a:r>
            <a:r>
              <a:rPr lang="en-US" u="sng" dirty="0"/>
              <a:t>acleddata.com</a:t>
            </a:r>
          </a:p>
          <a:p>
            <a:r>
              <a:rPr lang="en-US" dirty="0"/>
              <a:t>Conflict events processed : 1,554,214</a:t>
            </a:r>
          </a:p>
          <a:p>
            <a:r>
              <a:rPr lang="en-US" dirty="0"/>
              <a:t>Date range: Jan 2015 → Mar 2025</a:t>
            </a:r>
          </a:p>
          <a:p>
            <a:r>
              <a:rPr lang="en-US" dirty="0"/>
              <a:t>Countries: 52</a:t>
            </a:r>
          </a:p>
          <a:p>
            <a:pPr marL="0" indent="0">
              <a:buNone/>
            </a:pPr>
            <a:endParaRPr lang="en-US" dirty="0"/>
          </a:p>
        </p:txBody>
      </p:sp>
      <p:pic>
        <p:nvPicPr>
          <p:cNvPr id="5" name="Picture 4" descr="ACLED">
            <a:extLst>
              <a:ext uri="{FF2B5EF4-FFF2-40B4-BE49-F238E27FC236}">
                <a16:creationId xmlns:a16="http://schemas.microsoft.com/office/drawing/2014/main" id="{F43BF1C3-B8FC-CE5B-647F-2261AA87D13B}"/>
              </a:ext>
            </a:extLst>
          </p:cNvPr>
          <p:cNvPicPr>
            <a:picLocks noChangeAspect="1"/>
          </p:cNvPicPr>
          <p:nvPr/>
        </p:nvPicPr>
        <p:blipFill>
          <a:blip r:embed="rId2"/>
          <a:stretch>
            <a:fillRect/>
          </a:stretch>
        </p:blipFill>
        <p:spPr>
          <a:xfrm>
            <a:off x="6874329" y="1730940"/>
            <a:ext cx="5082144" cy="1463040"/>
          </a:xfrm>
          <a:prstGeom prst="rect">
            <a:avLst/>
          </a:prstGeom>
        </p:spPr>
      </p:pic>
      <p:sp>
        <p:nvSpPr>
          <p:cNvPr id="6" name="AutoShape 2">
            <a:extLst>
              <a:ext uri="{FF2B5EF4-FFF2-40B4-BE49-F238E27FC236}">
                <a16:creationId xmlns:a16="http://schemas.microsoft.com/office/drawing/2014/main" id="{6A7A476E-B2FF-00FC-C371-1830CCA16B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42A26B74-DD89-6AAD-93EF-3DD72F96B8FB}"/>
              </a:ext>
            </a:extLst>
          </p:cNvPr>
          <p:cNvSpPr txBox="1"/>
          <p:nvPr/>
        </p:nvSpPr>
        <p:spPr>
          <a:xfrm>
            <a:off x="4024207" y="4114681"/>
            <a:ext cx="7932266" cy="2062103"/>
          </a:xfrm>
          <a:prstGeom prst="rect">
            <a:avLst/>
          </a:prstGeom>
          <a:noFill/>
        </p:spPr>
        <p:txBody>
          <a:bodyPr wrap="square" rtlCol="0">
            <a:spAutoFit/>
          </a:bodyPr>
          <a:lstStyle/>
          <a:p>
            <a:r>
              <a:rPr lang="en-US" sz="2000" b="1" dirty="0"/>
              <a:t>2. GPR Index </a:t>
            </a:r>
            <a:r>
              <a:rPr lang="en-US" b="1" dirty="0"/>
              <a:t>-</a:t>
            </a:r>
            <a:r>
              <a:rPr lang="en-US" dirty="0"/>
              <a:t> Geopolitical Risk Index (goes up when more newspapers write about wars and crises.)</a:t>
            </a:r>
          </a:p>
          <a:p>
            <a:pPr marL="285750" indent="-285750">
              <a:buFont typeface="Arial" panose="020B0604020202020204" pitchFamily="34" charset="0"/>
              <a:buChar char="•"/>
            </a:pPr>
            <a:r>
              <a:rPr lang="en-US" dirty="0"/>
              <a:t>Acquisition:  XLS file downloaded from </a:t>
            </a:r>
            <a:r>
              <a:rPr lang="en-US" u="sng" dirty="0"/>
              <a:t>matteoiacoviello.com</a:t>
            </a:r>
          </a:p>
          <a:p>
            <a:pPr marL="285750" indent="-285750">
              <a:buFont typeface="Arial" panose="020B0604020202020204" pitchFamily="34" charset="0"/>
              <a:buChar char="•"/>
            </a:pPr>
            <a:r>
              <a:rPr lang="en-US" dirty="0"/>
              <a:t>Daily file rows: 15,050 (1985 → 2026)</a:t>
            </a:r>
          </a:p>
          <a:p>
            <a:pPr marL="285750" indent="-285750">
              <a:buFont typeface="Arial" panose="020B0604020202020204" pitchFamily="34" charset="0"/>
              <a:buChar char="•"/>
            </a:pPr>
            <a:r>
              <a:rPr lang="en-US" dirty="0"/>
              <a:t>Monthly file rows: 494 </a:t>
            </a:r>
          </a:p>
          <a:p>
            <a:pPr marL="285750" indent="-285750">
              <a:buFont typeface="Arial" panose="020B0604020202020204" pitchFamily="34" charset="0"/>
              <a:buChar char="•"/>
            </a:pPr>
            <a:r>
              <a:rPr lang="en-US" dirty="0"/>
              <a:t>After filtering from date(</a:t>
            </a:r>
            <a:r>
              <a:rPr lang="en-US" dirty="0" err="1"/>
              <a:t>jan</a:t>
            </a:r>
            <a:r>
              <a:rPr lang="en-US" dirty="0"/>
              <a:t> 2015- mar 2025) and week wise- 531 week rows</a:t>
            </a:r>
          </a:p>
          <a:p>
            <a:pPr marL="285750" indent="-285750">
              <a:buFont typeface="Arial" panose="020B0604020202020204" pitchFamily="34" charset="0"/>
              <a:buChar char="•"/>
            </a:pPr>
            <a:r>
              <a:rPr lang="en-US" dirty="0"/>
              <a:t>Countries: 44 </a:t>
            </a:r>
          </a:p>
        </p:txBody>
      </p:sp>
      <p:pic>
        <p:nvPicPr>
          <p:cNvPr id="8" name="Picture 7" descr="Geopolitical Risk Index.&#10;&#10;AI-generated content may be incorrect.">
            <a:extLst>
              <a:ext uri="{FF2B5EF4-FFF2-40B4-BE49-F238E27FC236}">
                <a16:creationId xmlns:a16="http://schemas.microsoft.com/office/drawing/2014/main" id="{A65D6077-45F5-A11E-6985-875182D930F8}"/>
              </a:ext>
            </a:extLst>
          </p:cNvPr>
          <p:cNvPicPr>
            <a:picLocks noChangeAspect="1"/>
          </p:cNvPicPr>
          <p:nvPr/>
        </p:nvPicPr>
        <p:blipFill>
          <a:blip r:embed="rId3"/>
          <a:stretch>
            <a:fillRect/>
          </a:stretch>
        </p:blipFill>
        <p:spPr>
          <a:xfrm>
            <a:off x="359229" y="4358002"/>
            <a:ext cx="3365483" cy="1052897"/>
          </a:xfrm>
          <a:prstGeom prst="rect">
            <a:avLst/>
          </a:prstGeom>
        </p:spPr>
      </p:pic>
    </p:spTree>
    <p:extLst>
      <p:ext uri="{BB962C8B-B14F-4D97-AF65-F5344CB8AC3E}">
        <p14:creationId xmlns:p14="http://schemas.microsoft.com/office/powerpoint/2010/main" val="1370102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E7B8A73-AF9E-2C4D-E3B1-71E19A070E8E}"/>
              </a:ext>
            </a:extLst>
          </p:cNvPr>
          <p:cNvSpPr>
            <a:spLocks noGrp="1" noChangeArrowheads="1"/>
          </p:cNvSpPr>
          <p:nvPr>
            <p:ph idx="1"/>
          </p:nvPr>
        </p:nvSpPr>
        <p:spPr bwMode="auto">
          <a:xfrm>
            <a:off x="962079" y="482600"/>
            <a:ext cx="6300216" cy="60411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600" b="1" i="0" u="none" strike="noStrike" cap="none" normalizeH="0" baseline="0" dirty="0">
                <a:ln>
                  <a:noFill/>
                </a:ln>
                <a:effectLst/>
                <a:latin typeface="Arial" panose="020B0604020202020204" pitchFamily="34" charset="0"/>
                <a:cs typeface="Arial" panose="020B0604020202020204" pitchFamily="34" charset="0"/>
              </a:rPr>
              <a:t>New York Times (393 articles)</a:t>
            </a:r>
          </a:p>
          <a:p>
            <a:pPr eaLnBrk="0" fontAlgn="base" hangingPunct="0">
              <a:lnSpc>
                <a:spcPct val="100000"/>
              </a:lnSpc>
              <a:spcBef>
                <a:spcPct val="0"/>
              </a:spcBef>
              <a:spcAft>
                <a:spcPts val="600"/>
              </a:spcAft>
            </a:pPr>
            <a:r>
              <a:rPr lang="en-US" sz="1400" dirty="0">
                <a:latin typeface="Arial" panose="020B0604020202020204" pitchFamily="34" charset="0"/>
                <a:cs typeface="Arial" panose="020B0604020202020204" pitchFamily="34" charset="0"/>
              </a:rPr>
              <a:t>API Text + Metadata</a:t>
            </a:r>
          </a:p>
          <a:p>
            <a:pPr eaLnBrk="0" fontAlgn="base" hangingPunct="0">
              <a:lnSpc>
                <a:spcPct val="100000"/>
              </a:lnSpc>
              <a:spcBef>
                <a:spcPct val="0"/>
              </a:spcBef>
              <a:spcAft>
                <a:spcPts val="600"/>
              </a:spcAft>
            </a:pPr>
            <a:r>
              <a:rPr lang="en-US" sz="1400" dirty="0">
                <a:latin typeface="Arial" panose="020B0604020202020204" pitchFamily="34" charset="0"/>
                <a:cs typeface="Arial" panose="020B0604020202020204" pitchFamily="34" charset="0"/>
              </a:rPr>
              <a:t>Acquisition: developer.nytimes.com API key</a:t>
            </a:r>
          </a:p>
          <a:p>
            <a:pPr eaLnBrk="0" fontAlgn="base" hangingPunct="0">
              <a:lnSpc>
                <a:spcPct val="100000"/>
              </a:lnSpc>
              <a:spcBef>
                <a:spcPct val="0"/>
              </a:spcBef>
              <a:spcAft>
                <a:spcPts val="600"/>
              </a:spcAft>
            </a:pPr>
            <a:r>
              <a:rPr lang="en-US" sz="1400" dirty="0">
                <a:latin typeface="Arial" panose="020B0604020202020204" pitchFamily="34" charset="0"/>
                <a:cs typeface="Arial" panose="020B0604020202020204" pitchFamily="34" charset="0"/>
              </a:rPr>
              <a:t>Fields: headline, abstract, </a:t>
            </a:r>
            <a:r>
              <a:rPr lang="en-US" sz="1400" dirty="0" err="1">
                <a:latin typeface="Arial" panose="020B0604020202020204" pitchFamily="34" charset="0"/>
                <a:cs typeface="Arial" panose="020B0604020202020204" pitchFamily="34" charset="0"/>
              </a:rPr>
              <a:t>pub_date</a:t>
            </a:r>
            <a:r>
              <a:rPr lang="en-US" sz="1400" dirty="0">
                <a:latin typeface="Arial" panose="020B0604020202020204" pitchFamily="34" charset="0"/>
                <a:cs typeface="Arial" panose="020B0604020202020204" pitchFamily="34" charset="0"/>
              </a:rPr>
              <a:t>, section</a:t>
            </a:r>
          </a:p>
          <a:p>
            <a:pPr eaLnBrk="0" fontAlgn="base" hangingPunct="0">
              <a:lnSpc>
                <a:spcPct val="100000"/>
              </a:lnSpc>
              <a:spcBef>
                <a:spcPct val="0"/>
              </a:spcBef>
              <a:spcAft>
                <a:spcPts val="600"/>
              </a:spcAft>
            </a:pPr>
            <a:r>
              <a:rPr lang="en-US" sz="1400" dirty="0">
                <a:latin typeface="Arial" panose="020B0604020202020204" pitchFamily="34" charset="0"/>
                <a:cs typeface="Arial" panose="020B0604020202020204" pitchFamily="34" charset="0"/>
              </a:rPr>
              <a:t>Returns JSON files</a:t>
            </a:r>
          </a:p>
          <a:p>
            <a:pPr eaLnBrk="0" fontAlgn="base" hangingPunct="0">
              <a:lnSpc>
                <a:spcPct val="100000"/>
              </a:lnSpc>
              <a:spcBef>
                <a:spcPct val="0"/>
              </a:spcBef>
              <a:spcAft>
                <a:spcPts val="600"/>
              </a:spcAft>
            </a:pPr>
            <a:endParaRPr lang="en-US" sz="1400" dirty="0">
              <a:latin typeface="Arial" panose="020B0604020202020204" pitchFamily="34" charset="0"/>
              <a:cs typeface="Arial" panose="020B0604020202020204" pitchFamily="34" charset="0"/>
            </a:endParaRPr>
          </a:p>
          <a:p>
            <a:pPr eaLnBrk="0" fontAlgn="base" hangingPunct="0">
              <a:lnSpc>
                <a:spcPct val="100000"/>
              </a:lnSpc>
              <a:spcBef>
                <a:spcPct val="0"/>
              </a:spcBef>
              <a:spcAft>
                <a:spcPts val="600"/>
              </a:spcAft>
            </a:pPr>
            <a:endParaRPr lang="en-US" sz="1400" dirty="0">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ts val="600"/>
              </a:spcAft>
              <a:buNone/>
            </a:pPr>
            <a:r>
              <a:rPr kumimoji="0" lang="en-US" altLang="en-US" sz="1600" b="1" i="0" u="none" strike="noStrike" cap="none" normalizeH="0" baseline="0" dirty="0">
                <a:ln>
                  <a:noFill/>
                </a:ln>
                <a:effectLst/>
                <a:latin typeface="Arial" panose="020B0604020202020204" pitchFamily="34" charset="0"/>
                <a:cs typeface="Arial" panose="020B0604020202020204" pitchFamily="34" charset="0"/>
              </a:rPr>
              <a:t>Reddit (297 posts)</a:t>
            </a:r>
          </a:p>
          <a:p>
            <a:pPr eaLnBrk="0" fontAlgn="base" hangingPunct="0">
              <a:lnSpc>
                <a:spcPct val="100000"/>
              </a:lnSpc>
              <a:spcBef>
                <a:spcPct val="0"/>
              </a:spcBef>
              <a:spcAft>
                <a:spcPts val="600"/>
              </a:spcAft>
            </a:pP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Captured using PRAW API</a:t>
            </a:r>
          </a:p>
          <a:p>
            <a:pPr eaLnBrk="0" fontAlgn="base" hangingPunct="0">
              <a:lnSpc>
                <a:spcPct val="100000"/>
              </a:lnSpc>
              <a:spcBef>
                <a:spcPct val="0"/>
              </a:spcBef>
              <a:spcAft>
                <a:spcPts val="600"/>
              </a:spcAft>
            </a:pPr>
            <a:r>
              <a:rPr lang="en-US" sz="1400" dirty="0">
                <a:latin typeface="Arial" panose="020B0604020202020204" pitchFamily="34" charset="0"/>
                <a:cs typeface="Arial" panose="020B0604020202020204" pitchFamily="34" charset="0"/>
              </a:rPr>
              <a:t>Subreddits: r/geopolitics, r/</a:t>
            </a:r>
            <a:r>
              <a:rPr lang="en-US" sz="1400" dirty="0" err="1">
                <a:latin typeface="Arial" panose="020B0604020202020204" pitchFamily="34" charset="0"/>
                <a:cs typeface="Arial" panose="020B0604020202020204" pitchFamily="34" charset="0"/>
              </a:rPr>
              <a:t>worldnews</a:t>
            </a:r>
            <a:endParaRPr lang="en-US" sz="1400" dirty="0">
              <a:latin typeface="Arial" panose="020B0604020202020204" pitchFamily="34" charset="0"/>
              <a:cs typeface="Arial" panose="020B0604020202020204" pitchFamily="34" charset="0"/>
            </a:endParaRPr>
          </a:p>
          <a:p>
            <a:pPr eaLnBrk="0" fontAlgn="base" hangingPunct="0">
              <a:lnSpc>
                <a:spcPct val="100000"/>
              </a:lnSpc>
              <a:spcBef>
                <a:spcPct val="0"/>
              </a:spcBef>
              <a:spcAft>
                <a:spcPts val="600"/>
              </a:spcAft>
            </a:pPr>
            <a:r>
              <a:rPr lang="en-US" sz="1400" dirty="0">
                <a:latin typeface="Arial" panose="020B0604020202020204" pitchFamily="34" charset="0"/>
                <a:cs typeface="Arial" panose="020B0604020202020204" pitchFamily="34" charset="0"/>
              </a:rPr>
              <a:t>Fields: title, </a:t>
            </a:r>
            <a:r>
              <a:rPr lang="en-US" sz="1400" dirty="0" err="1">
                <a:latin typeface="Arial" panose="020B0604020202020204" pitchFamily="34" charset="0"/>
                <a:cs typeface="Arial" panose="020B0604020202020204" pitchFamily="34" charset="0"/>
              </a:rPr>
              <a:t>selftext</a:t>
            </a:r>
            <a:r>
              <a:rPr lang="en-US" sz="1400" dirty="0">
                <a:latin typeface="Arial" panose="020B0604020202020204" pitchFamily="34" charset="0"/>
                <a:cs typeface="Arial" panose="020B0604020202020204" pitchFamily="34" charset="0"/>
              </a:rPr>
              <a:t>, score (upvotes), </a:t>
            </a:r>
            <a:r>
              <a:rPr lang="en-US" sz="1400" dirty="0" err="1">
                <a:latin typeface="Arial" panose="020B0604020202020204" pitchFamily="34" charset="0"/>
                <a:cs typeface="Arial" panose="020B0604020202020204" pitchFamily="34" charset="0"/>
              </a:rPr>
              <a:t>num_comments</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post_date</a:t>
            </a:r>
            <a:endParaRPr lang="en-US" sz="1400" dirty="0">
              <a:latin typeface="Arial" panose="020B0604020202020204" pitchFamily="34" charset="0"/>
              <a:cs typeface="Arial" panose="020B0604020202020204" pitchFamily="34" charset="0"/>
            </a:endParaRPr>
          </a:p>
          <a:p>
            <a:pPr eaLnBrk="0" fontAlgn="base" hangingPunct="0">
              <a:lnSpc>
                <a:spcPct val="100000"/>
              </a:lnSpc>
              <a:spcBef>
                <a:spcPct val="0"/>
              </a:spcBef>
              <a:spcAft>
                <a:spcPts val="600"/>
              </a:spcAft>
            </a:pPr>
            <a:endParaRPr lang="en-US" sz="1400" dirty="0">
              <a:latin typeface="Arial" panose="020B0604020202020204" pitchFamily="34" charset="0"/>
              <a:cs typeface="Arial" panose="020B0604020202020204" pitchFamily="34" charset="0"/>
            </a:endParaRPr>
          </a:p>
          <a:p>
            <a:pPr eaLnBrk="0" fontAlgn="base" hangingPunct="0">
              <a:lnSpc>
                <a:spcPct val="100000"/>
              </a:lnSpc>
              <a:spcBef>
                <a:spcPct val="0"/>
              </a:spcBef>
              <a:spcAft>
                <a:spcPts val="600"/>
              </a:spcAft>
            </a:pPr>
            <a:endParaRPr lang="en-US" sz="14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ts val="600"/>
              </a:spcAft>
              <a:buNone/>
            </a:pPr>
            <a:endParaRPr lang="en-US" sz="1400" dirty="0">
              <a:latin typeface="Arial" panose="020B0604020202020204" pitchFamily="34" charset="0"/>
              <a:cs typeface="Arial" panose="020B0604020202020204" pitchFamily="34" charset="0"/>
            </a:endParaRPr>
          </a:p>
          <a:p>
            <a:pPr marL="0" indent="0">
              <a:buNone/>
            </a:pPr>
            <a:r>
              <a:rPr lang="en-US" sz="1600" b="1" dirty="0">
                <a:latin typeface="Arial" panose="020B0604020202020204" pitchFamily="34" charset="0"/>
                <a:cs typeface="Arial" panose="020B0604020202020204" pitchFamily="34" charset="0"/>
              </a:rPr>
              <a:t>YouTube Data (287 uploads)</a:t>
            </a:r>
          </a:p>
          <a:p>
            <a:r>
              <a:rPr lang="en-US" sz="1400" dirty="0">
                <a:latin typeface="Arial" panose="020B0604020202020204" pitchFamily="34" charset="0"/>
                <a:cs typeface="Arial" panose="020B0604020202020204" pitchFamily="34" charset="0"/>
              </a:rPr>
              <a:t>Json from YouTube Data API </a:t>
            </a:r>
          </a:p>
          <a:p>
            <a:r>
              <a:rPr lang="en-US" sz="1400" dirty="0">
                <a:latin typeface="Arial" panose="020B0604020202020204" pitchFamily="34" charset="0"/>
                <a:cs typeface="Arial" panose="020B0604020202020204" pitchFamily="34" charset="0"/>
              </a:rPr>
              <a:t>Fields: Title, Description, Views, Likes</a:t>
            </a:r>
          </a:p>
          <a:p>
            <a:r>
              <a:rPr lang="en-US" sz="1400" dirty="0">
                <a:latin typeface="Arial" panose="020B0604020202020204" pitchFamily="34" charset="0"/>
                <a:cs typeface="Arial" panose="020B0604020202020204" pitchFamily="34" charset="0"/>
              </a:rPr>
              <a:t>collected from channels including Al Jazeera, DW, CGTN, and BBC</a:t>
            </a:r>
          </a:p>
          <a:p>
            <a:endParaRPr lang="en-US" sz="1400" dirty="0"/>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p:txBody>
      </p:sp>
      <p:pic>
        <p:nvPicPr>
          <p:cNvPr id="10" name="Picture 9" descr="The image depicts the Reddit logo, featuring a red circle with a white smiley face and a speech bubble.&#10;&#10;AI-generated content may be incorrect.">
            <a:extLst>
              <a:ext uri="{FF2B5EF4-FFF2-40B4-BE49-F238E27FC236}">
                <a16:creationId xmlns:a16="http://schemas.microsoft.com/office/drawing/2014/main" id="{8FA2F198-4526-179A-305D-91116AF7BF0C}"/>
              </a:ext>
            </a:extLst>
          </p:cNvPr>
          <p:cNvPicPr>
            <a:picLocks noChangeAspect="1"/>
          </p:cNvPicPr>
          <p:nvPr/>
        </p:nvPicPr>
        <p:blipFill>
          <a:blip r:embed="rId2"/>
          <a:srcRect l="2543"/>
          <a:stretch>
            <a:fillRect/>
          </a:stretch>
        </p:blipFill>
        <p:spPr>
          <a:xfrm>
            <a:off x="7720433" y="2570480"/>
            <a:ext cx="3239225" cy="1865376"/>
          </a:xfrm>
          <a:prstGeom prst="rect">
            <a:avLst/>
          </a:prstGeom>
        </p:spPr>
      </p:pic>
      <p:pic>
        <p:nvPicPr>
          <p:cNvPr id="6" name="Picture 5" descr="World Trends&#10;&#10;AI-generated content may be incorrect.">
            <a:extLst>
              <a:ext uri="{FF2B5EF4-FFF2-40B4-BE49-F238E27FC236}">
                <a16:creationId xmlns:a16="http://schemas.microsoft.com/office/drawing/2014/main" id="{5AFF51E9-F157-68E3-2776-D07CCB876B85}"/>
              </a:ext>
            </a:extLst>
          </p:cNvPr>
          <p:cNvPicPr>
            <a:picLocks noChangeAspect="1"/>
          </p:cNvPicPr>
          <p:nvPr/>
        </p:nvPicPr>
        <p:blipFill>
          <a:blip r:embed="rId3"/>
          <a:srcRect t="5286" r="-2" b="8070"/>
          <a:stretch>
            <a:fillRect/>
          </a:stretch>
        </p:blipFill>
        <p:spPr>
          <a:xfrm>
            <a:off x="7720433" y="482600"/>
            <a:ext cx="3239225" cy="1865376"/>
          </a:xfrm>
          <a:prstGeom prst="rect">
            <a:avLst/>
          </a:prstGeom>
        </p:spPr>
      </p:pic>
      <p:pic>
        <p:nvPicPr>
          <p:cNvPr id="5" name="Picture 4" descr="YouTube&#10;&#10;AI-generated content may be incorrect.">
            <a:extLst>
              <a:ext uri="{FF2B5EF4-FFF2-40B4-BE49-F238E27FC236}">
                <a16:creationId xmlns:a16="http://schemas.microsoft.com/office/drawing/2014/main" id="{814B2D7C-4AD1-C30F-83ED-5A3D5BAC3A73}"/>
              </a:ext>
            </a:extLst>
          </p:cNvPr>
          <p:cNvPicPr>
            <a:picLocks noChangeAspect="1"/>
          </p:cNvPicPr>
          <p:nvPr/>
        </p:nvPicPr>
        <p:blipFill>
          <a:blip r:embed="rId4"/>
          <a:stretch>
            <a:fillRect/>
          </a:stretch>
        </p:blipFill>
        <p:spPr>
          <a:xfrm>
            <a:off x="7720433" y="4435856"/>
            <a:ext cx="3239225" cy="2228850"/>
          </a:xfrm>
          <a:prstGeom prst="rect">
            <a:avLst/>
          </a:prstGeom>
        </p:spPr>
      </p:pic>
    </p:spTree>
    <p:extLst>
      <p:ext uri="{BB962C8B-B14F-4D97-AF65-F5344CB8AC3E}">
        <p14:creationId xmlns:p14="http://schemas.microsoft.com/office/powerpoint/2010/main" val="400109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s a line chart showing daily document counts from various sources, highlighting key events such as conflict in Kharkiv, NATO talks, and an emergency summit, spanning from February 1 to April 1, 2026.&#10;&#10;AI-generated content may be incorrect.">
            <a:extLst>
              <a:ext uri="{FF2B5EF4-FFF2-40B4-BE49-F238E27FC236}">
                <a16:creationId xmlns:a16="http://schemas.microsoft.com/office/drawing/2014/main" id="{30A9D7E8-2ED7-20FF-646B-EE430ABCFC8F}"/>
              </a:ext>
            </a:extLst>
          </p:cNvPr>
          <p:cNvPicPr>
            <a:picLocks noChangeAspect="1"/>
          </p:cNvPicPr>
          <p:nvPr/>
        </p:nvPicPr>
        <p:blipFill>
          <a:blip r:embed="rId2"/>
          <a:srcRect r="7322"/>
          <a:stretch>
            <a:fillRect/>
          </a:stretch>
        </p:blipFill>
        <p:spPr>
          <a:xfrm>
            <a:off x="0" y="1084384"/>
            <a:ext cx="11299371" cy="468923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8D0F697-5E87-D11A-2851-075B815543F0}"/>
                  </a:ext>
                </a:extLst>
              </p14:cNvPr>
              <p14:cNvContentPartPr/>
              <p14:nvPr/>
            </p14:nvContentPartPr>
            <p14:xfrm>
              <a:off x="11299423" y="1616374"/>
              <a:ext cx="360" cy="3511080"/>
            </p14:xfrm>
          </p:contentPart>
        </mc:Choice>
        <mc:Fallback xmlns="">
          <p:pic>
            <p:nvPicPr>
              <p:cNvPr id="3" name="Ink 2">
                <a:extLst>
                  <a:ext uri="{FF2B5EF4-FFF2-40B4-BE49-F238E27FC236}">
                    <a16:creationId xmlns:a16="http://schemas.microsoft.com/office/drawing/2014/main" id="{98D0F697-5E87-D11A-2851-075B815543F0}"/>
                  </a:ext>
                </a:extLst>
              </p:cNvPr>
              <p:cNvPicPr/>
              <p:nvPr/>
            </p:nvPicPr>
            <p:blipFill>
              <a:blip r:embed="rId4"/>
              <a:stretch>
                <a:fillRect/>
              </a:stretch>
            </p:blipFill>
            <p:spPr>
              <a:xfrm>
                <a:off x="11293303" y="1610254"/>
                <a:ext cx="12600" cy="3523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3A424708-6143-EAC5-47AC-660E0192A737}"/>
                  </a:ext>
                </a:extLst>
              </p14:cNvPr>
              <p14:cNvContentPartPr/>
              <p14:nvPr/>
            </p14:nvContentPartPr>
            <p14:xfrm>
              <a:off x="11299938" y="5100285"/>
              <a:ext cx="360" cy="125280"/>
            </p14:xfrm>
          </p:contentPart>
        </mc:Choice>
        <mc:Fallback xmlns="">
          <p:pic>
            <p:nvPicPr>
              <p:cNvPr id="4" name="Ink 3">
                <a:extLst>
                  <a:ext uri="{FF2B5EF4-FFF2-40B4-BE49-F238E27FC236}">
                    <a16:creationId xmlns:a16="http://schemas.microsoft.com/office/drawing/2014/main" id="{3A424708-6143-EAC5-47AC-660E0192A737}"/>
                  </a:ext>
                </a:extLst>
              </p:cNvPr>
              <p:cNvPicPr/>
              <p:nvPr/>
            </p:nvPicPr>
            <p:blipFill>
              <a:blip r:embed="rId6"/>
              <a:stretch>
                <a:fillRect/>
              </a:stretch>
            </p:blipFill>
            <p:spPr>
              <a:xfrm>
                <a:off x="11293818" y="5094165"/>
                <a:ext cx="12600" cy="137520"/>
              </a:xfrm>
              <a:prstGeom prst="rect">
                <a:avLst/>
              </a:prstGeom>
            </p:spPr>
          </p:pic>
        </mc:Fallback>
      </mc:AlternateContent>
      <p:sp>
        <p:nvSpPr>
          <p:cNvPr id="7" name="TextBox 6">
            <a:extLst>
              <a:ext uri="{FF2B5EF4-FFF2-40B4-BE49-F238E27FC236}">
                <a16:creationId xmlns:a16="http://schemas.microsoft.com/office/drawing/2014/main" id="{18FA68B5-ADB3-8833-3368-D044A98D865B}"/>
              </a:ext>
            </a:extLst>
          </p:cNvPr>
          <p:cNvSpPr txBox="1"/>
          <p:nvPr/>
        </p:nvSpPr>
        <p:spPr>
          <a:xfrm>
            <a:off x="2726872" y="5904244"/>
            <a:ext cx="7805057" cy="400110"/>
          </a:xfrm>
          <a:prstGeom prst="rect">
            <a:avLst/>
          </a:prstGeom>
          <a:noFill/>
        </p:spPr>
        <p:txBody>
          <a:bodyPr wrap="square" rtlCol="0">
            <a:spAutoFit/>
          </a:bodyPr>
          <a:lstStyle/>
          <a:p>
            <a:r>
              <a:rPr lang="en-US" sz="2000" dirty="0"/>
              <a:t>Media activity shows clear spikes during major conflict events</a:t>
            </a:r>
          </a:p>
        </p:txBody>
      </p:sp>
    </p:spTree>
    <p:extLst>
      <p:ext uri="{BB962C8B-B14F-4D97-AF65-F5344CB8AC3E}">
        <p14:creationId xmlns:p14="http://schemas.microsoft.com/office/powerpoint/2010/main" val="2888829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e image displays three distributions of text lengths, showing the frequency of different character counts for NYT, Reddit, and YouTube texts.&#10;&#10;AI-generated content may be incorrect.">
            <a:extLst>
              <a:ext uri="{FF2B5EF4-FFF2-40B4-BE49-F238E27FC236}">
                <a16:creationId xmlns:a16="http://schemas.microsoft.com/office/drawing/2014/main" id="{B025F918-C596-7C48-DEA7-A3BC2BE0B212}"/>
              </a:ext>
            </a:extLst>
          </p:cNvPr>
          <p:cNvPicPr>
            <a:picLocks noGrp="1" noChangeAspect="1"/>
          </p:cNvPicPr>
          <p:nvPr>
            <p:ph idx="4294967295"/>
          </p:nvPr>
        </p:nvPicPr>
        <p:blipFill>
          <a:blip r:embed="rId3"/>
          <a:stretch>
            <a:fillRect/>
          </a:stretch>
        </p:blipFill>
        <p:spPr>
          <a:xfrm>
            <a:off x="443592" y="181109"/>
            <a:ext cx="11443608" cy="4517073"/>
          </a:xfrm>
          <a:prstGeom prst="rect">
            <a:avLst/>
          </a:prstGeom>
        </p:spPr>
      </p:pic>
      <p:sp>
        <p:nvSpPr>
          <p:cNvPr id="6" name="TextBox 5">
            <a:extLst>
              <a:ext uri="{FF2B5EF4-FFF2-40B4-BE49-F238E27FC236}">
                <a16:creationId xmlns:a16="http://schemas.microsoft.com/office/drawing/2014/main" id="{31E8F0E0-4BE5-78E8-FFD9-F53274C9F37A}"/>
              </a:ext>
            </a:extLst>
          </p:cNvPr>
          <p:cNvSpPr txBox="1"/>
          <p:nvPr/>
        </p:nvSpPr>
        <p:spPr>
          <a:xfrm>
            <a:off x="704675" y="4781725"/>
            <a:ext cx="3397542" cy="1077218"/>
          </a:xfrm>
          <a:prstGeom prst="rect">
            <a:avLst/>
          </a:prstGeom>
          <a:noFill/>
        </p:spPr>
        <p:txBody>
          <a:bodyPr wrap="square" rtlCol="0">
            <a:spAutoFit/>
          </a:bodyPr>
          <a:lstStyle/>
          <a:p>
            <a:r>
              <a:rPr lang="en-US" b="1" dirty="0"/>
              <a:t>NYT </a:t>
            </a:r>
            <a:r>
              <a:rPr lang="en-US" sz="1400" dirty="0"/>
              <a:t> </a:t>
            </a:r>
          </a:p>
          <a:p>
            <a:pPr marL="285750" indent="-285750">
              <a:buFont typeface="Arial" panose="020B0604020202020204" pitchFamily="34" charset="0"/>
              <a:buChar char="•"/>
            </a:pPr>
            <a:r>
              <a:rPr lang="en-US" sz="1400" dirty="0"/>
              <a:t>Articles are </a:t>
            </a:r>
            <a:r>
              <a:rPr lang="en-US" sz="1400" b="1" dirty="0"/>
              <a:t>consistent and structured</a:t>
            </a:r>
            <a:endParaRPr lang="en-US" sz="1400" dirty="0"/>
          </a:p>
          <a:p>
            <a:endParaRPr lang="en-US" dirty="0"/>
          </a:p>
        </p:txBody>
      </p:sp>
      <p:sp>
        <p:nvSpPr>
          <p:cNvPr id="7" name="TextBox 6">
            <a:extLst>
              <a:ext uri="{FF2B5EF4-FFF2-40B4-BE49-F238E27FC236}">
                <a16:creationId xmlns:a16="http://schemas.microsoft.com/office/drawing/2014/main" id="{52E7A7FE-5FE0-DD95-16DE-311BF66C09F2}"/>
              </a:ext>
            </a:extLst>
          </p:cNvPr>
          <p:cNvSpPr txBox="1"/>
          <p:nvPr/>
        </p:nvSpPr>
        <p:spPr>
          <a:xfrm>
            <a:off x="4555223" y="4781725"/>
            <a:ext cx="3534562" cy="1077218"/>
          </a:xfrm>
          <a:prstGeom prst="rect">
            <a:avLst/>
          </a:prstGeom>
          <a:noFill/>
        </p:spPr>
        <p:txBody>
          <a:bodyPr wrap="square" rtlCol="0">
            <a:spAutoFit/>
          </a:bodyPr>
          <a:lstStyle/>
          <a:p>
            <a:r>
              <a:rPr lang="en-US" b="1" dirty="0"/>
              <a:t>Reddit </a:t>
            </a:r>
          </a:p>
          <a:p>
            <a:pPr marL="285750" indent="-285750">
              <a:buFont typeface="Arial" panose="020B0604020202020204" pitchFamily="34" charset="0"/>
              <a:buChar char="•"/>
            </a:pPr>
            <a:r>
              <a:rPr lang="en-US" sz="1400" b="1" dirty="0"/>
              <a:t>Highly skewed distribution</a:t>
            </a:r>
            <a:r>
              <a:rPr lang="en-US" sz="1400" dirty="0"/>
              <a:t> with extreme long posts (up to ~7000 chars) </a:t>
            </a:r>
          </a:p>
          <a:p>
            <a:endParaRPr lang="en-US" dirty="0"/>
          </a:p>
        </p:txBody>
      </p:sp>
      <p:sp>
        <p:nvSpPr>
          <p:cNvPr id="8" name="TextBox 7">
            <a:extLst>
              <a:ext uri="{FF2B5EF4-FFF2-40B4-BE49-F238E27FC236}">
                <a16:creationId xmlns:a16="http://schemas.microsoft.com/office/drawing/2014/main" id="{E1D1F7A0-7ED5-288A-2BA2-7A6420BD7E33}"/>
              </a:ext>
            </a:extLst>
          </p:cNvPr>
          <p:cNvSpPr txBox="1"/>
          <p:nvPr/>
        </p:nvSpPr>
        <p:spPr>
          <a:xfrm>
            <a:off x="8514826" y="4781725"/>
            <a:ext cx="3372374" cy="1508105"/>
          </a:xfrm>
          <a:prstGeom prst="rect">
            <a:avLst/>
          </a:prstGeom>
          <a:noFill/>
        </p:spPr>
        <p:txBody>
          <a:bodyPr wrap="square" rtlCol="0">
            <a:spAutoFit/>
          </a:bodyPr>
          <a:lstStyle/>
          <a:p>
            <a:r>
              <a:rPr lang="en-US" b="1" dirty="0"/>
              <a:t>YouTube (Comments)</a:t>
            </a:r>
          </a:p>
          <a:p>
            <a:pPr marL="285750" indent="-285750">
              <a:buFont typeface="Arial" panose="020B0604020202020204" pitchFamily="34" charset="0"/>
              <a:buChar char="•"/>
            </a:pPr>
            <a:r>
              <a:rPr lang="en-US" sz="1400" dirty="0"/>
              <a:t>Mostly </a:t>
            </a:r>
            <a:r>
              <a:rPr lang="en-US" sz="1400" b="1" dirty="0"/>
              <a:t>short, reactive, and opinion-based comments</a:t>
            </a:r>
            <a:r>
              <a:rPr lang="en-US" sz="1400" dirty="0"/>
              <a:t> </a:t>
            </a:r>
          </a:p>
          <a:p>
            <a:pPr marL="285750" indent="-285750">
              <a:buFont typeface="Arial" panose="020B0604020202020204" pitchFamily="34" charset="0"/>
              <a:buChar char="•"/>
            </a:pPr>
            <a:r>
              <a:rPr lang="en-US" sz="1400" dirty="0"/>
              <a:t>Captures </a:t>
            </a:r>
            <a:r>
              <a:rPr lang="en-US" sz="1400" b="1" dirty="0"/>
              <a:t>real-time public sentiment and emotional reactions</a:t>
            </a:r>
            <a:endParaRPr lang="en-US" sz="1400" dirty="0"/>
          </a:p>
          <a:p>
            <a:endParaRPr lang="en-US" dirty="0"/>
          </a:p>
        </p:txBody>
      </p:sp>
    </p:spTree>
    <p:extLst>
      <p:ext uri="{BB962C8B-B14F-4D97-AF65-F5344CB8AC3E}">
        <p14:creationId xmlns:p14="http://schemas.microsoft.com/office/powerpoint/2010/main" val="3121602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DF84B-390E-76F6-1561-A7CE9FF293B7}"/>
              </a:ext>
            </a:extLst>
          </p:cNvPr>
          <p:cNvSpPr>
            <a:spLocks noGrp="1"/>
          </p:cNvSpPr>
          <p:nvPr>
            <p:ph type="title"/>
          </p:nvPr>
        </p:nvSpPr>
        <p:spPr>
          <a:xfrm>
            <a:off x="838200" y="365126"/>
            <a:ext cx="10515600" cy="667808"/>
          </a:xfrm>
        </p:spPr>
        <p:txBody>
          <a:bodyPr>
            <a:normAutofit fontScale="90000"/>
          </a:bodyPr>
          <a:lstStyle/>
          <a:p>
            <a:pPr algn="ctr"/>
            <a:r>
              <a:rPr lang="en-US" dirty="0"/>
              <a:t>Data Preprocessing</a:t>
            </a:r>
          </a:p>
        </p:txBody>
      </p:sp>
      <p:sp>
        <p:nvSpPr>
          <p:cNvPr id="36" name="Rectangle 1">
            <a:extLst>
              <a:ext uri="{FF2B5EF4-FFF2-40B4-BE49-F238E27FC236}">
                <a16:creationId xmlns:a16="http://schemas.microsoft.com/office/drawing/2014/main" id="{EABF9DC8-981E-5D5C-9CDA-E899C68A0B45}"/>
              </a:ext>
            </a:extLst>
          </p:cNvPr>
          <p:cNvSpPr>
            <a:spLocks noGrp="1" noChangeArrowheads="1"/>
          </p:cNvSpPr>
          <p:nvPr>
            <p:ph idx="1"/>
          </p:nvPr>
        </p:nvSpPr>
        <p:spPr bwMode="auto">
          <a:xfrm>
            <a:off x="804333" y="1141743"/>
            <a:ext cx="10515600" cy="294110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600" b="0" i="0" u="none" strike="noStrike" cap="none" normalizeH="0" baseline="0" dirty="0">
                <a:ln>
                  <a:noFill/>
                </a:ln>
                <a:effectLst/>
                <a:latin typeface="Arial" panose="020B0604020202020204" pitchFamily="34" charset="0"/>
              </a:rPr>
              <a:t>• </a:t>
            </a:r>
            <a:r>
              <a:rPr kumimoji="0" lang="en-US" altLang="en-US" sz="1800" b="0" i="0" u="none" strike="noStrike" cap="none" normalizeH="0" baseline="0" dirty="0">
                <a:ln>
                  <a:noFill/>
                </a:ln>
                <a:effectLst/>
                <a:latin typeface="Arial" panose="020B0604020202020204" pitchFamily="34" charset="0"/>
                <a:cs typeface="Arial" panose="020B0604020202020204" pitchFamily="34" charset="0"/>
              </a:rPr>
              <a:t>Text cleaning: removed URLs, HTML tags, and non-alphabetic characters</a:t>
            </a:r>
            <a:br>
              <a:rPr kumimoji="0" lang="en-US" altLang="en-US" sz="1800" b="0" i="0" u="none" strike="noStrike" cap="none" normalizeH="0" baseline="0" dirty="0">
                <a:ln>
                  <a:noFill/>
                </a:ln>
                <a:effectLst/>
                <a:latin typeface="Arial" panose="020B0604020202020204" pitchFamily="34" charset="0"/>
                <a:cs typeface="Arial" panose="020B0604020202020204" pitchFamily="34" charset="0"/>
              </a:rPr>
            </a:br>
            <a:r>
              <a:rPr kumimoji="0" lang="en-US" altLang="en-US" sz="1800" b="0" i="0" u="none" strike="noStrike" cap="none" normalizeH="0" baseline="0" dirty="0">
                <a:ln>
                  <a:noFill/>
                </a:ln>
                <a:effectLst/>
                <a:latin typeface="Arial" panose="020B0604020202020204" pitchFamily="34" charset="0"/>
                <a:cs typeface="Arial" panose="020B0604020202020204" pitchFamily="34" charset="0"/>
              </a:rPr>
              <a:t>• Converted all text to lowercase</a:t>
            </a:r>
          </a:p>
          <a:p>
            <a:pPr marL="0" marR="0" lvl="0" indent="0"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dirty="0">
                <a:ln>
                  <a:noFill/>
                </a:ln>
                <a:effectLst/>
                <a:latin typeface="Arial" panose="020B0604020202020204" pitchFamily="34" charset="0"/>
                <a:cs typeface="Arial" panose="020B0604020202020204" pitchFamily="34" charset="0"/>
              </a:rPr>
              <a:t>• Tokenization using NLTK</a:t>
            </a:r>
            <a:br>
              <a:rPr kumimoji="0" lang="en-US" altLang="en-US" sz="1800" b="0" i="0" u="none" strike="noStrike" cap="none" normalizeH="0" baseline="0" dirty="0">
                <a:ln>
                  <a:noFill/>
                </a:ln>
                <a:effectLst/>
                <a:latin typeface="Arial" panose="020B0604020202020204" pitchFamily="34" charset="0"/>
                <a:cs typeface="Arial" panose="020B0604020202020204" pitchFamily="34" charset="0"/>
              </a:rPr>
            </a:br>
            <a:r>
              <a:rPr kumimoji="0" lang="en-US" altLang="en-US" sz="1800" b="0" i="0" u="none" strike="noStrike" cap="none" normalizeH="0" baseline="0" dirty="0">
                <a:ln>
                  <a:noFill/>
                </a:ln>
                <a:effectLst/>
                <a:latin typeface="Arial" panose="020B0604020202020204" pitchFamily="34" charset="0"/>
                <a:cs typeface="Arial" panose="020B0604020202020204" pitchFamily="34" charset="0"/>
              </a:rPr>
              <a:t>• Lemmatization applied</a:t>
            </a:r>
            <a:br>
              <a:rPr kumimoji="0" lang="en-US" altLang="en-US" sz="1800" b="0" i="0" u="none" strike="noStrike" cap="none" normalizeH="0" baseline="0" dirty="0">
                <a:ln>
                  <a:noFill/>
                </a:ln>
                <a:effectLst/>
                <a:latin typeface="Arial" panose="020B0604020202020204" pitchFamily="34" charset="0"/>
                <a:cs typeface="Arial" panose="020B0604020202020204" pitchFamily="34" charset="0"/>
              </a:rPr>
            </a:br>
            <a:endParaRPr kumimoji="0" lang="en-US" altLang="en-US" sz="1800" b="0" i="0" u="none" strike="noStrike" cap="none" normalizeH="0" baseline="0" dirty="0">
              <a:ln>
                <a:noFill/>
              </a:ln>
              <a:effectLst/>
              <a:latin typeface="Arial" panose="020B0604020202020204" pitchFamily="34" charset="0"/>
              <a:cs typeface="Arial" panose="020B0604020202020204" pitchFamily="34" charset="0"/>
            </a:endParaRPr>
          </a:p>
          <a:p>
            <a:pPr marL="0" lvl="0" indent="0" eaLnBrk="0" fontAlgn="base" hangingPunct="0">
              <a:spcBef>
                <a:spcPct val="0"/>
              </a:spcBef>
              <a:spcAft>
                <a:spcPts val="600"/>
              </a:spcAft>
              <a:buNone/>
            </a:pPr>
            <a:r>
              <a:rPr kumimoji="0" lang="en-US" altLang="en-US" sz="1800" b="0" i="0" u="none" strike="noStrike" cap="none" normalizeH="0" baseline="0" dirty="0">
                <a:ln>
                  <a:noFill/>
                </a:ln>
                <a:effectLst/>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Example:</a:t>
            </a: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RAW:</a:t>
            </a:r>
            <a:r>
              <a:rPr lang="en-US" sz="1800" dirty="0">
                <a:latin typeface="Arial" panose="020B0604020202020204" pitchFamily="34" charset="0"/>
                <a:cs typeface="Arial" panose="020B0604020202020204" pitchFamily="34" charset="0"/>
              </a:rPr>
              <a:t> "war!!! </a:t>
            </a:r>
            <a:r>
              <a:rPr lang="en-US" sz="1800" u="sng" dirty="0">
                <a:latin typeface="Arial" panose="020B0604020202020204" pitchFamily="34" charset="0"/>
                <a:cs typeface="Arial" panose="020B0604020202020204" pitchFamily="34" charset="0"/>
              </a:rPr>
              <a:t>http link</a:t>
            </a:r>
            <a:r>
              <a:rPr lang="en-US" sz="1800" dirty="0">
                <a:latin typeface="Arial" panose="020B0604020202020204" pitchFamily="34" charset="0"/>
                <a:cs typeface="Arial" panose="020B0604020202020204" pitchFamily="34" charset="0"/>
              </a:rPr>
              <a:t>"</a:t>
            </a: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CLEAN:</a:t>
            </a:r>
            <a:r>
              <a:rPr lang="en-US" sz="1800" dirty="0">
                <a:latin typeface="Arial" panose="020B0604020202020204" pitchFamily="34" charset="0"/>
                <a:cs typeface="Arial" panose="020B0604020202020204" pitchFamily="34" charset="0"/>
              </a:rPr>
              <a:t> "war"</a:t>
            </a:r>
            <a:endParaRPr kumimoji="0" lang="en-US" altLang="en-US" sz="1800" b="0" i="0" u="none" strike="noStrike" cap="none" normalizeH="0" baseline="0" dirty="0">
              <a:ln>
                <a:noFill/>
              </a:ln>
              <a:effectLst/>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383C4CB-699F-7430-0854-3CD7FDB5DAD6}"/>
              </a:ext>
            </a:extLst>
          </p:cNvPr>
          <p:cNvSpPr txBox="1"/>
          <p:nvPr/>
        </p:nvSpPr>
        <p:spPr>
          <a:xfrm>
            <a:off x="550333" y="4191660"/>
            <a:ext cx="5291667" cy="1938992"/>
          </a:xfrm>
          <a:prstGeom prst="rect">
            <a:avLst/>
          </a:prstGeom>
          <a:solidFill>
            <a:schemeClr val="tx2">
              <a:lumMod val="10000"/>
              <a:lumOff val="90000"/>
            </a:schemeClr>
          </a:solidFill>
        </p:spPr>
        <p:txBody>
          <a:bodyPr wrap="square" rtlCol="0">
            <a:spAutoFit/>
          </a:bodyPr>
          <a:lstStyle/>
          <a:p>
            <a:r>
              <a:rPr lang="en-US" b="1" dirty="0"/>
              <a:t>lexicon-based topic classification method:</a:t>
            </a:r>
          </a:p>
          <a:p>
            <a:pPr marL="285750" indent="-285750">
              <a:buFont typeface="Arial" panose="020B0604020202020204" pitchFamily="34" charset="0"/>
              <a:buChar char="•"/>
            </a:pPr>
            <a:r>
              <a:rPr lang="en-US" sz="1400" b="1" dirty="0"/>
              <a:t>Escalation lexicon</a:t>
            </a:r>
            <a:r>
              <a:rPr lang="en-US" sz="1400" dirty="0"/>
              <a:t> → words related to conflict </a:t>
            </a:r>
          </a:p>
          <a:p>
            <a:pPr marL="285750" indent="-285750">
              <a:buFont typeface="Arial" panose="020B0604020202020204" pitchFamily="34" charset="0"/>
              <a:buChar char="•"/>
            </a:pPr>
            <a:r>
              <a:rPr lang="en-US" sz="1400" b="1" dirty="0"/>
              <a:t>Diplomacy lexicon</a:t>
            </a:r>
            <a:r>
              <a:rPr lang="en-US" sz="1400" dirty="0"/>
              <a:t> → words related to peace </a:t>
            </a:r>
          </a:p>
          <a:p>
            <a:pPr marL="285750" indent="-285750">
              <a:buFont typeface="Arial" panose="020B0604020202020204" pitchFamily="34" charset="0"/>
              <a:buChar char="•"/>
            </a:pPr>
            <a:r>
              <a:rPr lang="en-US" sz="1400" dirty="0"/>
              <a:t>"escalation": ["attack","bomb","airstrike","invasion","war","troops","military"]</a:t>
            </a:r>
          </a:p>
          <a:p>
            <a:pPr marL="285750" indent="-285750">
              <a:buFont typeface="Arial" panose="020B0604020202020204" pitchFamily="34" charset="0"/>
              <a:buChar char="•"/>
            </a:pPr>
            <a:r>
              <a:rPr lang="en-US" sz="1400" dirty="0"/>
              <a:t>"diplomacy": ["</a:t>
            </a:r>
            <a:r>
              <a:rPr lang="en-US" sz="1400" dirty="0" err="1"/>
              <a:t>ceasefire","talks","agreement","peace","negotiation","truce</a:t>
            </a:r>
            <a:r>
              <a:rPr lang="en-US" sz="1400" dirty="0"/>
              <a:t>"]</a:t>
            </a:r>
          </a:p>
          <a:p>
            <a:endParaRPr lang="en-US" dirty="0"/>
          </a:p>
        </p:txBody>
      </p:sp>
      <p:sp>
        <p:nvSpPr>
          <p:cNvPr id="8" name="TextBox 7">
            <a:extLst>
              <a:ext uri="{FF2B5EF4-FFF2-40B4-BE49-F238E27FC236}">
                <a16:creationId xmlns:a16="http://schemas.microsoft.com/office/drawing/2014/main" id="{4B3B8DDF-841C-58B5-91FC-3F28E72C4B18}"/>
              </a:ext>
            </a:extLst>
          </p:cNvPr>
          <p:cNvSpPr txBox="1"/>
          <p:nvPr/>
        </p:nvSpPr>
        <p:spPr>
          <a:xfrm>
            <a:off x="6722533" y="2714332"/>
            <a:ext cx="4597400" cy="3416320"/>
          </a:xfrm>
          <a:prstGeom prst="rect">
            <a:avLst/>
          </a:prstGeom>
          <a:solidFill>
            <a:schemeClr val="tx2">
              <a:lumMod val="10000"/>
              <a:lumOff val="90000"/>
            </a:schemeClr>
          </a:solidFill>
        </p:spPr>
        <p:txBody>
          <a:bodyPr wrap="square" rtlCol="0">
            <a:spAutoFit/>
          </a:bodyPr>
          <a:lstStyle/>
          <a:p>
            <a:r>
              <a:rPr lang="en-US" b="1" dirty="0"/>
              <a:t>BERT( </a:t>
            </a:r>
            <a:r>
              <a:rPr lang="en-US" b="1" dirty="0" err="1"/>
              <a:t>ro</a:t>
            </a:r>
            <a:r>
              <a:rPr lang="en-US" b="1" dirty="0"/>
              <a:t>-BERT-a) model for sentiment analysis:</a:t>
            </a:r>
          </a:p>
          <a:p>
            <a:endParaRPr lang="en-US" b="1" dirty="0"/>
          </a:p>
          <a:p>
            <a:r>
              <a:rPr lang="en-US" dirty="0"/>
              <a:t>Transformer-based models (</a:t>
            </a:r>
            <a:r>
              <a:rPr lang="en-US" dirty="0" err="1"/>
              <a:t>RoBERTa</a:t>
            </a:r>
            <a:r>
              <a:rPr lang="en-US" dirty="0"/>
              <a:t>) capture context better than lexicon methods: </a:t>
            </a:r>
          </a:p>
          <a:p>
            <a:r>
              <a:rPr lang="en-US" dirty="0"/>
              <a:t>Example:</a:t>
            </a:r>
          </a:p>
          <a:p>
            <a:r>
              <a:rPr lang="en-US" dirty="0"/>
              <a:t>“airstrike launched after failed peace talks”</a:t>
            </a:r>
          </a:p>
          <a:p>
            <a:r>
              <a:rPr lang="en-US" dirty="0"/>
              <a:t>Match words against lexicons: </a:t>
            </a:r>
          </a:p>
          <a:p>
            <a:r>
              <a:rPr lang="en-US" dirty="0"/>
              <a:t>Negative sentiment - "airstrike" </a:t>
            </a:r>
          </a:p>
          <a:p>
            <a:r>
              <a:rPr lang="en-US" dirty="0"/>
              <a:t>Positive sentiment -  "peace", "talks"</a:t>
            </a:r>
          </a:p>
          <a:p>
            <a:endParaRPr lang="en-US" dirty="0"/>
          </a:p>
        </p:txBody>
      </p:sp>
    </p:spTree>
    <p:extLst>
      <p:ext uri="{BB962C8B-B14F-4D97-AF65-F5344CB8AC3E}">
        <p14:creationId xmlns:p14="http://schemas.microsoft.com/office/powerpoint/2010/main" val="3382200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AED0AB9-857A-9BA5-97E5-7C8CE7FD129B}"/>
              </a:ext>
            </a:extLst>
          </p:cNvPr>
          <p:cNvSpPr txBox="1"/>
          <p:nvPr/>
        </p:nvSpPr>
        <p:spPr>
          <a:xfrm>
            <a:off x="1198881" y="4998720"/>
            <a:ext cx="9161564" cy="1225006"/>
          </a:xfrm>
          <a:prstGeom prst="rect">
            <a:avLst/>
          </a:prstGeom>
        </p:spPr>
        <p:txBody>
          <a:bodyPr vert="horz" lIns="91440" tIns="45720" rIns="91440" bIns="45720" rtlCol="0" anchor="t">
            <a:normAutofit/>
          </a:bodyPr>
          <a:lstStyle/>
          <a:p>
            <a:pPr>
              <a:lnSpc>
                <a:spcPct val="110000"/>
              </a:lnSpc>
              <a:spcBef>
                <a:spcPts val="1000"/>
              </a:spcBef>
            </a:pPr>
            <a:endParaRPr lang="en-US" sz="2200" i="1" kern="1200" dirty="0">
              <a:solidFill>
                <a:schemeClr val="tx1"/>
              </a:solidFill>
              <a:latin typeface="+mn-lt"/>
              <a:ea typeface="+mn-ea"/>
              <a:cs typeface="+mn-cs"/>
            </a:endParaRPr>
          </a:p>
          <a:p>
            <a:pPr>
              <a:lnSpc>
                <a:spcPct val="110000"/>
              </a:lnSpc>
              <a:spcBef>
                <a:spcPts val="1000"/>
              </a:spcBef>
            </a:pPr>
            <a:endParaRPr lang="en-US" sz="2200" i="1" dirty="0"/>
          </a:p>
          <a:p>
            <a:pPr>
              <a:lnSpc>
                <a:spcPct val="110000"/>
              </a:lnSpc>
              <a:spcBef>
                <a:spcPts val="1000"/>
              </a:spcBef>
            </a:pPr>
            <a:endParaRPr lang="en-US" sz="2200" i="1" kern="1200" dirty="0">
              <a:solidFill>
                <a:schemeClr val="tx1"/>
              </a:solidFill>
              <a:latin typeface="+mn-lt"/>
              <a:ea typeface="+mn-ea"/>
              <a:cs typeface="+mn-cs"/>
            </a:endParaRPr>
          </a:p>
        </p:txBody>
      </p:sp>
      <p:pic>
        <p:nvPicPr>
          <p:cNvPr id="5" name="Content Placeholder 4" descr="The image presents a community perspective analysis of Ukraine conflict coverage, illustrating sentiment distribution across various topics like escalation, diplomacy, and economics, and showing the proportion of documents and mean sentiment scores for different regions and perspectives.&#10;&#10;AI-generated content may be incorrect.">
            <a:extLst>
              <a:ext uri="{FF2B5EF4-FFF2-40B4-BE49-F238E27FC236}">
                <a16:creationId xmlns:a16="http://schemas.microsoft.com/office/drawing/2014/main" id="{87471E71-3240-9DDA-8D7D-16D012522CB2}"/>
              </a:ext>
            </a:extLst>
          </p:cNvPr>
          <p:cNvPicPr>
            <a:picLocks noGrp="1" noChangeAspect="1"/>
          </p:cNvPicPr>
          <p:nvPr>
            <p:ph idx="1"/>
          </p:nvPr>
        </p:nvPicPr>
        <p:blipFill>
          <a:blip r:embed="rId2"/>
          <a:srcRect l="-1" r="-1966"/>
          <a:stretch>
            <a:fillRect/>
          </a:stretch>
        </p:blipFill>
        <p:spPr>
          <a:xfrm>
            <a:off x="228601" y="274098"/>
            <a:ext cx="11805556" cy="5257800"/>
          </a:xfrm>
          <a:prstGeom prst="rect">
            <a:avLst/>
          </a:prstGeom>
        </p:spPr>
      </p:pic>
      <p:sp>
        <p:nvSpPr>
          <p:cNvPr id="2" name="TextBox 1">
            <a:extLst>
              <a:ext uri="{FF2B5EF4-FFF2-40B4-BE49-F238E27FC236}">
                <a16:creationId xmlns:a16="http://schemas.microsoft.com/office/drawing/2014/main" id="{4BA7CEA9-D81F-B8C6-0407-99278BF0CBB3}"/>
              </a:ext>
            </a:extLst>
          </p:cNvPr>
          <p:cNvSpPr txBox="1"/>
          <p:nvPr/>
        </p:nvSpPr>
        <p:spPr>
          <a:xfrm>
            <a:off x="710293" y="5900560"/>
            <a:ext cx="10842171" cy="646331"/>
          </a:xfrm>
          <a:prstGeom prst="rect">
            <a:avLst/>
          </a:prstGeom>
          <a:noFill/>
        </p:spPr>
        <p:txBody>
          <a:bodyPr wrap="square" rtlCol="0">
            <a:spAutoFit/>
          </a:bodyPr>
          <a:lstStyle/>
          <a:p>
            <a:r>
              <a:rPr lang="en-US" dirty="0"/>
              <a:t>Negative sentiment reflects conflict-heavy framing, while variations across communities indicate differing geopolitical perspectives.</a:t>
            </a:r>
          </a:p>
        </p:txBody>
      </p:sp>
    </p:spTree>
    <p:extLst>
      <p:ext uri="{BB962C8B-B14F-4D97-AF65-F5344CB8AC3E}">
        <p14:creationId xmlns:p14="http://schemas.microsoft.com/office/powerpoint/2010/main" val="164067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3C526-6D59-6BD9-6158-FB90B0107149}"/>
              </a:ext>
            </a:extLst>
          </p:cNvPr>
          <p:cNvSpPr>
            <a:spLocks noGrp="1"/>
          </p:cNvSpPr>
          <p:nvPr>
            <p:ph type="title"/>
          </p:nvPr>
        </p:nvSpPr>
        <p:spPr>
          <a:xfrm>
            <a:off x="838200" y="423333"/>
            <a:ext cx="10515600" cy="592667"/>
          </a:xfrm>
        </p:spPr>
        <p:txBody>
          <a:bodyPr>
            <a:normAutofit fontScale="90000"/>
          </a:bodyPr>
          <a:lstStyle/>
          <a:p>
            <a:pPr algn="ctr"/>
            <a:r>
              <a:rPr lang="en-US" dirty="0"/>
              <a:t>Feature Engineering:</a:t>
            </a:r>
            <a:br>
              <a:rPr lang="en-US" dirty="0"/>
            </a:br>
            <a:endParaRPr lang="en-US" dirty="0"/>
          </a:p>
        </p:txBody>
      </p:sp>
      <p:sp>
        <p:nvSpPr>
          <p:cNvPr id="3" name="Content Placeholder 2">
            <a:extLst>
              <a:ext uri="{FF2B5EF4-FFF2-40B4-BE49-F238E27FC236}">
                <a16:creationId xmlns:a16="http://schemas.microsoft.com/office/drawing/2014/main" id="{9DDB1DE5-18FD-D1F0-44A7-1C2B08684DCA}"/>
              </a:ext>
            </a:extLst>
          </p:cNvPr>
          <p:cNvSpPr>
            <a:spLocks noGrp="1"/>
          </p:cNvSpPr>
          <p:nvPr>
            <p:ph idx="1"/>
          </p:nvPr>
        </p:nvSpPr>
        <p:spPr>
          <a:xfrm>
            <a:off x="507999" y="962184"/>
            <a:ext cx="5181599" cy="973666"/>
          </a:xfrm>
        </p:spPr>
        <p:txBody>
          <a:bodyPr>
            <a:normAutofit lnSpcReduction="10000"/>
          </a:bodyPr>
          <a:lstStyle/>
          <a:p>
            <a:r>
              <a:rPr lang="en-US" sz="1600" dirty="0"/>
              <a:t>Aligned datasets on: Country, weekly</a:t>
            </a:r>
          </a:p>
          <a:p>
            <a:r>
              <a:rPr lang="en-US" sz="1600" dirty="0"/>
              <a:t>Created unified dataset: </a:t>
            </a:r>
            <a:r>
              <a:rPr lang="en-US" sz="1600" dirty="0" err="1"/>
              <a:t>gpr</a:t>
            </a:r>
            <a:r>
              <a:rPr lang="en-US" sz="1600" dirty="0"/>
              <a:t> indices + Conflict metrics</a:t>
            </a:r>
          </a:p>
          <a:p>
            <a:r>
              <a:rPr lang="en-US" sz="1600" dirty="0"/>
              <a:t>Created weekly features:</a:t>
            </a:r>
          </a:p>
          <a:p>
            <a:endParaRPr lang="en-US" dirty="0"/>
          </a:p>
        </p:txBody>
      </p:sp>
      <p:sp>
        <p:nvSpPr>
          <p:cNvPr id="5" name="TextBox 4">
            <a:extLst>
              <a:ext uri="{FF2B5EF4-FFF2-40B4-BE49-F238E27FC236}">
                <a16:creationId xmlns:a16="http://schemas.microsoft.com/office/drawing/2014/main" id="{73210F87-46C5-17EE-BAC5-9499B29CC8AC}"/>
              </a:ext>
            </a:extLst>
          </p:cNvPr>
          <p:cNvSpPr txBox="1"/>
          <p:nvPr/>
        </p:nvSpPr>
        <p:spPr>
          <a:xfrm>
            <a:off x="507999" y="1983016"/>
            <a:ext cx="4958928" cy="1446550"/>
          </a:xfrm>
          <a:prstGeom prst="rect">
            <a:avLst/>
          </a:prstGeom>
          <a:solidFill>
            <a:schemeClr val="bg2">
              <a:lumMod val="90000"/>
            </a:schemeClr>
          </a:solidFill>
        </p:spPr>
        <p:txBody>
          <a:bodyPr wrap="square" rtlCol="0">
            <a:spAutoFit/>
          </a:bodyPr>
          <a:lstStyle/>
          <a:p>
            <a:r>
              <a:rPr lang="en-US" b="1" dirty="0"/>
              <a:t>ACLED-derived weekly features</a:t>
            </a:r>
          </a:p>
          <a:p>
            <a:r>
              <a:rPr lang="en-US" sz="1400" dirty="0" err="1"/>
              <a:t>total_events</a:t>
            </a:r>
            <a:r>
              <a:rPr lang="en-US" sz="1400" dirty="0"/>
              <a:t>: Count of events that week — numerical</a:t>
            </a:r>
          </a:p>
          <a:p>
            <a:r>
              <a:rPr lang="en-US" sz="1400" dirty="0" err="1"/>
              <a:t>total_fatalities</a:t>
            </a:r>
            <a:r>
              <a:rPr lang="en-US" sz="1400" dirty="0"/>
              <a:t>: Sum of deaths — numerical integer</a:t>
            </a:r>
          </a:p>
          <a:p>
            <a:r>
              <a:rPr lang="en-US" sz="1400" dirty="0" err="1"/>
              <a:t>fatality_rate</a:t>
            </a:r>
            <a:r>
              <a:rPr lang="en-US" sz="1400" dirty="0"/>
              <a:t>: Deaths per event — lethality signal</a:t>
            </a:r>
          </a:p>
          <a:p>
            <a:r>
              <a:rPr lang="en-US" sz="1400" dirty="0" err="1"/>
              <a:t>battle_fraction</a:t>
            </a:r>
            <a:r>
              <a:rPr lang="en-US" sz="1400" dirty="0"/>
              <a:t>: Share of events that are battles</a:t>
            </a:r>
          </a:p>
          <a:p>
            <a:r>
              <a:rPr lang="en-US" sz="1400" dirty="0" err="1"/>
              <a:t>multi_country_spike</a:t>
            </a:r>
            <a:r>
              <a:rPr lang="en-US" sz="1400" dirty="0"/>
              <a:t>: How many countries spiking at once</a:t>
            </a:r>
          </a:p>
        </p:txBody>
      </p:sp>
      <p:sp>
        <p:nvSpPr>
          <p:cNvPr id="6" name="TextBox 5">
            <a:extLst>
              <a:ext uri="{FF2B5EF4-FFF2-40B4-BE49-F238E27FC236}">
                <a16:creationId xmlns:a16="http://schemas.microsoft.com/office/drawing/2014/main" id="{FBAE0FB5-12E1-30E2-BD89-388107372462}"/>
              </a:ext>
            </a:extLst>
          </p:cNvPr>
          <p:cNvSpPr txBox="1"/>
          <p:nvPr/>
        </p:nvSpPr>
        <p:spPr>
          <a:xfrm>
            <a:off x="507999" y="3623318"/>
            <a:ext cx="4958928" cy="1231106"/>
          </a:xfrm>
          <a:prstGeom prst="rect">
            <a:avLst/>
          </a:prstGeom>
          <a:solidFill>
            <a:schemeClr val="bg2">
              <a:lumMod val="90000"/>
            </a:schemeClr>
          </a:solidFill>
        </p:spPr>
        <p:txBody>
          <a:bodyPr wrap="square" rtlCol="0">
            <a:spAutoFit/>
          </a:bodyPr>
          <a:lstStyle/>
          <a:p>
            <a:r>
              <a:rPr lang="en-US" b="1" dirty="0"/>
              <a:t>GPR-derived weekly features</a:t>
            </a:r>
          </a:p>
          <a:p>
            <a:r>
              <a:rPr lang="en-US" sz="1400" dirty="0" err="1"/>
              <a:t>gpr_mean</a:t>
            </a:r>
            <a:r>
              <a:rPr lang="en-US" sz="1400" dirty="0"/>
              <a:t>: Weekly average GPR index</a:t>
            </a:r>
          </a:p>
          <a:p>
            <a:r>
              <a:rPr lang="en-US" sz="1400" dirty="0" err="1"/>
              <a:t>gpr_threat_mean</a:t>
            </a:r>
            <a:r>
              <a:rPr lang="en-US" sz="1400" dirty="0"/>
              <a:t>: Threat-component average</a:t>
            </a:r>
          </a:p>
          <a:p>
            <a:r>
              <a:rPr lang="en-US" sz="1400" dirty="0" err="1"/>
              <a:t>gpr_act_mean:Actual-events</a:t>
            </a:r>
            <a:r>
              <a:rPr lang="en-US" sz="1400" dirty="0"/>
              <a:t> component avg</a:t>
            </a:r>
          </a:p>
          <a:p>
            <a:r>
              <a:rPr lang="en-US" sz="1400" dirty="0" err="1"/>
              <a:t>threat_act_ratio</a:t>
            </a:r>
            <a:r>
              <a:rPr lang="en-US" sz="1400" dirty="0"/>
              <a:t>: Threat ÷ Act — pre-escalation signal</a:t>
            </a:r>
          </a:p>
        </p:txBody>
      </p:sp>
      <p:sp>
        <p:nvSpPr>
          <p:cNvPr id="7" name="TextBox 6">
            <a:extLst>
              <a:ext uri="{FF2B5EF4-FFF2-40B4-BE49-F238E27FC236}">
                <a16:creationId xmlns:a16="http://schemas.microsoft.com/office/drawing/2014/main" id="{56549AF1-AD37-0A2A-1F1C-FFBC1B8CADF0}"/>
              </a:ext>
            </a:extLst>
          </p:cNvPr>
          <p:cNvSpPr txBox="1"/>
          <p:nvPr/>
        </p:nvSpPr>
        <p:spPr>
          <a:xfrm>
            <a:off x="507999" y="5095597"/>
            <a:ext cx="4958927" cy="800219"/>
          </a:xfrm>
          <a:prstGeom prst="rect">
            <a:avLst/>
          </a:prstGeom>
          <a:solidFill>
            <a:schemeClr val="bg2">
              <a:lumMod val="90000"/>
            </a:schemeClr>
          </a:solidFill>
        </p:spPr>
        <p:txBody>
          <a:bodyPr wrap="square" rtlCol="0">
            <a:spAutoFit/>
          </a:bodyPr>
          <a:lstStyle/>
          <a:p>
            <a:r>
              <a:rPr lang="en-US" b="1" dirty="0"/>
              <a:t>NLP media features (from APIs)</a:t>
            </a:r>
          </a:p>
          <a:p>
            <a:r>
              <a:rPr lang="en-US" sz="1400" dirty="0" err="1"/>
              <a:t>narrative_shift_score</a:t>
            </a:r>
            <a:r>
              <a:rPr lang="en-US" sz="1400" dirty="0"/>
              <a:t>: Escalation topic% − Diplomacy topic%</a:t>
            </a:r>
          </a:p>
          <a:p>
            <a:r>
              <a:rPr lang="en-US" sz="1400" dirty="0" err="1"/>
              <a:t>mean_sentiment</a:t>
            </a:r>
            <a:r>
              <a:rPr lang="en-US" sz="1400" dirty="0"/>
              <a:t>: Avg sentiment [−1, +1]</a:t>
            </a:r>
          </a:p>
        </p:txBody>
      </p:sp>
      <p:sp>
        <p:nvSpPr>
          <p:cNvPr id="4" name="TextBox 3">
            <a:extLst>
              <a:ext uri="{FF2B5EF4-FFF2-40B4-BE49-F238E27FC236}">
                <a16:creationId xmlns:a16="http://schemas.microsoft.com/office/drawing/2014/main" id="{F44D2EB5-9D4D-68EC-052F-9939CF8EA1EC}"/>
              </a:ext>
            </a:extLst>
          </p:cNvPr>
          <p:cNvSpPr txBox="1"/>
          <p:nvPr/>
        </p:nvSpPr>
        <p:spPr>
          <a:xfrm>
            <a:off x="5831598" y="3700262"/>
            <a:ext cx="6360402" cy="2585323"/>
          </a:xfrm>
          <a:prstGeom prst="rect">
            <a:avLst/>
          </a:prstGeom>
          <a:noFill/>
        </p:spPr>
        <p:txBody>
          <a:bodyPr wrap="square" rtlCol="0">
            <a:spAutoFit/>
          </a:bodyPr>
          <a:lstStyle/>
          <a:p>
            <a:r>
              <a:rPr lang="en-US" b="1" dirty="0"/>
              <a:t>formula:</a:t>
            </a:r>
          </a:p>
          <a:p>
            <a:r>
              <a:rPr lang="en-US" dirty="0"/>
              <a:t>Augmented GPR = GPR (most recent) </a:t>
            </a:r>
            <a:r>
              <a:rPr lang="el-GR" dirty="0"/>
              <a:t>+</a:t>
            </a:r>
            <a:r>
              <a:rPr lang="en-US" dirty="0"/>
              <a:t> Media Signal</a:t>
            </a:r>
            <a:endParaRPr lang="en-US" b="1" dirty="0"/>
          </a:p>
          <a:p>
            <a:r>
              <a:rPr lang="en-US" b="1" dirty="0"/>
              <a:t>Where:</a:t>
            </a:r>
          </a:p>
          <a:p>
            <a:r>
              <a:rPr lang="en-US" dirty="0"/>
              <a:t>Media Signal = Narrative Shift +  Negative Sentiment</a:t>
            </a:r>
          </a:p>
          <a:p>
            <a:endParaRPr lang="ar-AE" b="0" dirty="0"/>
          </a:p>
          <a:p>
            <a:r>
              <a:rPr lang="en-US" b="1" dirty="0"/>
              <a:t>final version:</a:t>
            </a:r>
          </a:p>
          <a:p>
            <a:r>
              <a:rPr lang="en-US" dirty="0"/>
              <a:t>Augmented GPR = GPR </a:t>
            </a:r>
            <a:r>
              <a:rPr lang="el-GR" dirty="0"/>
              <a:t>+</a:t>
            </a:r>
            <a:r>
              <a:rPr lang="en-US" dirty="0"/>
              <a:t> (Narrative Shift +  Negative Sentiment)</a:t>
            </a:r>
            <a:endParaRPr lang="ar-AE" b="0" dirty="0"/>
          </a:p>
          <a:p>
            <a:endParaRPr lang="en-US" dirty="0"/>
          </a:p>
        </p:txBody>
      </p:sp>
    </p:spTree>
    <p:extLst>
      <p:ext uri="{BB962C8B-B14F-4D97-AF65-F5344CB8AC3E}">
        <p14:creationId xmlns:p14="http://schemas.microsoft.com/office/powerpoint/2010/main" val="2991758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A0196A-3F89-1D3B-2B5A-C7C0EEA20791}"/>
              </a:ext>
            </a:extLst>
          </p:cNvPr>
          <p:cNvSpPr>
            <a:spLocks noGrp="1"/>
          </p:cNvSpPr>
          <p:nvPr>
            <p:ph type="title"/>
          </p:nvPr>
        </p:nvSpPr>
        <p:spPr>
          <a:xfrm>
            <a:off x="838200" y="564362"/>
            <a:ext cx="10515600" cy="664206"/>
          </a:xfrm>
        </p:spPr>
        <p:txBody>
          <a:bodyPr>
            <a:normAutofit fontScale="90000"/>
          </a:bodyPr>
          <a:lstStyle/>
          <a:p>
            <a:pPr algn="ctr"/>
            <a:r>
              <a:rPr lang="en-US" dirty="0"/>
              <a:t>Escalation Label Design</a:t>
            </a:r>
            <a:br>
              <a:rPr lang="en-US" b="0" i="0" dirty="0">
                <a:solidFill>
                  <a:srgbClr val="000000"/>
                </a:solidFill>
                <a:effectLst/>
                <a:latin typeface="Times New Roman" panose="02020603050405020304" pitchFamily="18" charset="0"/>
              </a:rPr>
            </a:br>
            <a:endParaRPr lang="en-US" dirty="0"/>
          </a:p>
        </p:txBody>
      </p:sp>
      <p:sp>
        <p:nvSpPr>
          <p:cNvPr id="7" name="Content Placeholder 6">
            <a:extLst>
              <a:ext uri="{FF2B5EF4-FFF2-40B4-BE49-F238E27FC236}">
                <a16:creationId xmlns:a16="http://schemas.microsoft.com/office/drawing/2014/main" id="{D843AFC7-F395-727C-CC35-7B71B9965143}"/>
              </a:ext>
            </a:extLst>
          </p:cNvPr>
          <p:cNvSpPr>
            <a:spLocks noGrp="1"/>
          </p:cNvSpPr>
          <p:nvPr>
            <p:ph idx="1"/>
          </p:nvPr>
        </p:nvSpPr>
        <p:spPr>
          <a:xfrm>
            <a:off x="897622" y="1174459"/>
            <a:ext cx="10456178" cy="2127541"/>
          </a:xfrm>
        </p:spPr>
        <p:txBody>
          <a:bodyPr>
            <a:normAutofit lnSpcReduction="10000"/>
          </a:bodyPr>
          <a:lstStyle/>
          <a:p>
            <a:pPr>
              <a:spcAft>
                <a:spcPts val="900"/>
              </a:spcAft>
            </a:pPr>
            <a:r>
              <a:rPr lang="en-US" sz="1600" b="1" dirty="0"/>
              <a:t>ESCALATION = 1 IF: </a:t>
            </a:r>
          </a:p>
          <a:p>
            <a:pPr>
              <a:spcAft>
                <a:spcPts val="900"/>
              </a:spcAft>
              <a:buNone/>
            </a:pPr>
            <a:r>
              <a:rPr lang="en-US" sz="1400" b="1" dirty="0"/>
              <a:t>	</a:t>
            </a:r>
            <a:r>
              <a:rPr lang="en-US" sz="1600" b="1" dirty="0"/>
              <a:t>(FATALITIES IN 30 DAYS &gt; 2 × AVERAGE FATALITIES OVER PAST 12 WEEKS)</a:t>
            </a:r>
            <a:br>
              <a:rPr lang="en-US" sz="1600" dirty="0"/>
            </a:br>
            <a:r>
              <a:rPr lang="en-US" sz="1600" b="1" dirty="0"/>
              <a:t>AND</a:t>
            </a:r>
            <a:br>
              <a:rPr lang="en-US" sz="1600" dirty="0"/>
            </a:br>
            <a:r>
              <a:rPr lang="en-US" sz="1600" b="1" dirty="0"/>
              <a:t>(TENSION IN 30 DAYS &gt; 2 × AVERAGE TENSION OVER PAST 30 DAYS)</a:t>
            </a:r>
            <a:endParaRPr lang="en-US" sz="1600" dirty="0"/>
          </a:p>
          <a:p>
            <a:pPr>
              <a:spcAft>
                <a:spcPts val="900"/>
              </a:spcAft>
            </a:pPr>
            <a:r>
              <a:rPr lang="en-US" sz="1400" b="1" dirty="0"/>
              <a:t>0 – STABLE</a:t>
            </a:r>
          </a:p>
          <a:p>
            <a:pPr>
              <a:spcAft>
                <a:spcPts val="900"/>
              </a:spcAft>
            </a:pPr>
            <a:r>
              <a:rPr lang="en-US" sz="1400" b="1" dirty="0"/>
              <a:t>1 - ESCALATION</a:t>
            </a:r>
            <a:endParaRPr lang="en-US" sz="1200" dirty="0"/>
          </a:p>
          <a:p>
            <a:pPr lvl="1">
              <a:spcAft>
                <a:spcPts val="900"/>
              </a:spcAft>
              <a:buNone/>
            </a:pPr>
            <a:endParaRPr lang="en-US" sz="1000" b="0" i="0" dirty="0">
              <a:solidFill>
                <a:srgbClr val="000000"/>
              </a:solidFill>
              <a:effectLst/>
              <a:latin typeface="Times New Roman" panose="02020603050405020304" pitchFamily="18" charset="0"/>
            </a:endParaRPr>
          </a:p>
          <a:p>
            <a:endParaRPr lang="en-US" dirty="0"/>
          </a:p>
        </p:txBody>
      </p:sp>
      <p:graphicFrame>
        <p:nvGraphicFramePr>
          <p:cNvPr id="2" name="Table 1">
            <a:extLst>
              <a:ext uri="{FF2B5EF4-FFF2-40B4-BE49-F238E27FC236}">
                <a16:creationId xmlns:a16="http://schemas.microsoft.com/office/drawing/2014/main" id="{A523FE5C-6949-90C7-C27A-EB946A86A54C}"/>
              </a:ext>
            </a:extLst>
          </p:cNvPr>
          <p:cNvGraphicFramePr>
            <a:graphicFrameLocks noGrp="1"/>
          </p:cNvGraphicFramePr>
          <p:nvPr>
            <p:extLst>
              <p:ext uri="{D42A27DB-BD31-4B8C-83A1-F6EECF244321}">
                <p14:modId xmlns:p14="http://schemas.microsoft.com/office/powerpoint/2010/main" val="2983241207"/>
              </p:ext>
            </p:extLst>
          </p:nvPr>
        </p:nvGraphicFramePr>
        <p:xfrm>
          <a:off x="1978029" y="3428518"/>
          <a:ext cx="8295364" cy="2865120"/>
        </p:xfrm>
        <a:graphic>
          <a:graphicData uri="http://schemas.openxmlformats.org/drawingml/2006/table">
            <a:tbl>
              <a:tblPr firstRow="1" bandRow="1">
                <a:tableStyleId>{5C22544A-7EE6-4342-B048-85BDC9FD1C3A}</a:tableStyleId>
              </a:tblPr>
              <a:tblGrid>
                <a:gridCol w="829427">
                  <a:extLst>
                    <a:ext uri="{9D8B030D-6E8A-4147-A177-3AD203B41FA5}">
                      <a16:colId xmlns:a16="http://schemas.microsoft.com/office/drawing/2014/main" val="877396808"/>
                    </a:ext>
                  </a:extLst>
                </a:gridCol>
                <a:gridCol w="829069">
                  <a:extLst>
                    <a:ext uri="{9D8B030D-6E8A-4147-A177-3AD203B41FA5}">
                      <a16:colId xmlns:a16="http://schemas.microsoft.com/office/drawing/2014/main" val="1786895806"/>
                    </a:ext>
                  </a:extLst>
                </a:gridCol>
                <a:gridCol w="932702">
                  <a:extLst>
                    <a:ext uri="{9D8B030D-6E8A-4147-A177-3AD203B41FA5}">
                      <a16:colId xmlns:a16="http://schemas.microsoft.com/office/drawing/2014/main" val="4131152066"/>
                    </a:ext>
                  </a:extLst>
                </a:gridCol>
                <a:gridCol w="1118509">
                  <a:extLst>
                    <a:ext uri="{9D8B030D-6E8A-4147-A177-3AD203B41FA5}">
                      <a16:colId xmlns:a16="http://schemas.microsoft.com/office/drawing/2014/main" val="377045271"/>
                    </a:ext>
                  </a:extLst>
                </a:gridCol>
                <a:gridCol w="4585657">
                  <a:extLst>
                    <a:ext uri="{9D8B030D-6E8A-4147-A177-3AD203B41FA5}">
                      <a16:colId xmlns:a16="http://schemas.microsoft.com/office/drawing/2014/main" val="3086661005"/>
                    </a:ext>
                  </a:extLst>
                </a:gridCol>
              </a:tblGrid>
              <a:tr h="370840">
                <a:tc>
                  <a:txBody>
                    <a:bodyPr/>
                    <a:lstStyle/>
                    <a:p>
                      <a:r>
                        <a:rPr lang="en-US" dirty="0"/>
                        <a:t>Version</a:t>
                      </a:r>
                    </a:p>
                  </a:txBody>
                  <a:tcPr/>
                </a:tc>
                <a:tc>
                  <a:txBody>
                    <a:bodyPr/>
                    <a:lstStyle/>
                    <a:p>
                      <a:r>
                        <a:rPr lang="en-US" dirty="0"/>
                        <a:t>Criteria</a:t>
                      </a:r>
                    </a:p>
                  </a:txBody>
                  <a:tcPr/>
                </a:tc>
                <a:tc>
                  <a:txBody>
                    <a:bodyPr/>
                    <a:lstStyle/>
                    <a:p>
                      <a:r>
                        <a:rPr lang="en-US" dirty="0"/>
                        <a:t>T-value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positives</a:t>
                      </a:r>
                    </a:p>
                  </a:txBody>
                  <a:tcPr/>
                </a:tc>
                <a:tc>
                  <a:txBody>
                    <a:bodyPr/>
                    <a:lstStyle/>
                    <a:p>
                      <a:r>
                        <a:rPr lang="en-US" dirty="0"/>
                        <a:t>remarks</a:t>
                      </a:r>
                    </a:p>
                  </a:txBody>
                  <a:tcPr/>
                </a:tc>
                <a:extLst>
                  <a:ext uri="{0D108BD9-81ED-4DB2-BD59-A6C34878D82A}">
                    <a16:rowId xmlns:a16="http://schemas.microsoft.com/office/drawing/2014/main" val="3016780087"/>
                  </a:ext>
                </a:extLst>
              </a:tr>
              <a:tr h="370840">
                <a:tc>
                  <a:txBody>
                    <a:bodyPr/>
                    <a:lstStyle/>
                    <a:p>
                      <a:r>
                        <a:rPr lang="en-US" dirty="0"/>
                        <a:t>1.a</a:t>
                      </a:r>
                    </a:p>
                  </a:txBody>
                  <a:tcPr/>
                </a:tc>
                <a:tc>
                  <a:txBody>
                    <a:bodyPr/>
                    <a:lstStyle/>
                    <a:p>
                      <a:r>
                        <a:rPr lang="en-US" dirty="0"/>
                        <a:t>OR</a:t>
                      </a:r>
                    </a:p>
                  </a:txBody>
                  <a:tcPr/>
                </a:tc>
                <a:tc>
                  <a:txBody>
                    <a:bodyPr/>
                    <a:lstStyle/>
                    <a:p>
                      <a:r>
                        <a:rPr lang="en-US" dirty="0"/>
                        <a:t>1.5</a:t>
                      </a:r>
                    </a:p>
                  </a:txBody>
                  <a:tcPr/>
                </a:tc>
                <a:tc>
                  <a:txBody>
                    <a:bodyPr/>
                    <a:lstStyle/>
                    <a:p>
                      <a:r>
                        <a:rPr lang="en-US" dirty="0"/>
                        <a:t>297/531</a:t>
                      </a:r>
                    </a:p>
                  </a:txBody>
                  <a:tcPr/>
                </a:tc>
                <a:tc>
                  <a:txBody>
                    <a:bodyPr/>
                    <a:lstStyle/>
                    <a:p>
                      <a:r>
                        <a:rPr lang="en-US" dirty="0"/>
                        <a:t>Too loose (HIGH FALSE POSITIVES)</a:t>
                      </a:r>
                    </a:p>
                  </a:txBody>
                  <a:tcPr/>
                </a:tc>
                <a:extLst>
                  <a:ext uri="{0D108BD9-81ED-4DB2-BD59-A6C34878D82A}">
                    <a16:rowId xmlns:a16="http://schemas.microsoft.com/office/drawing/2014/main" val="2925956915"/>
                  </a:ext>
                </a:extLst>
              </a:tr>
              <a:tr h="370840">
                <a:tc>
                  <a:txBody>
                    <a:bodyPr/>
                    <a:lstStyle/>
                    <a:p>
                      <a:r>
                        <a:rPr lang="en-US" dirty="0"/>
                        <a:t>1.b</a:t>
                      </a:r>
                    </a:p>
                  </a:txBody>
                  <a:tcPr/>
                </a:tc>
                <a:tc>
                  <a:txBody>
                    <a:bodyPr/>
                    <a:lstStyle/>
                    <a:p>
                      <a:r>
                        <a:rPr lang="en-US" dirty="0"/>
                        <a:t>AND</a:t>
                      </a:r>
                    </a:p>
                  </a:txBody>
                  <a:tcPr/>
                </a:tc>
                <a:tc>
                  <a:txBody>
                    <a:bodyPr/>
                    <a:lstStyle/>
                    <a:p>
                      <a:r>
                        <a:rPr lang="en-US" dirty="0"/>
                        <a:t>1.5</a:t>
                      </a:r>
                    </a:p>
                  </a:txBody>
                  <a:tcPr/>
                </a:tc>
                <a:tc>
                  <a:txBody>
                    <a:bodyPr/>
                    <a:lstStyle/>
                    <a:p>
                      <a:r>
                        <a:rPr lang="en-US" dirty="0"/>
                        <a:t>210/531</a:t>
                      </a:r>
                    </a:p>
                  </a:txBody>
                  <a:tcPr/>
                </a:tc>
                <a:tc>
                  <a:txBody>
                    <a:bodyPr/>
                    <a:lstStyle/>
                    <a:p>
                      <a:r>
                        <a:rPr lang="en-US" dirty="0"/>
                        <a:t>Loose </a:t>
                      </a:r>
                    </a:p>
                  </a:txBody>
                  <a:tcPr/>
                </a:tc>
                <a:extLst>
                  <a:ext uri="{0D108BD9-81ED-4DB2-BD59-A6C34878D82A}">
                    <a16:rowId xmlns:a16="http://schemas.microsoft.com/office/drawing/2014/main" val="2708400756"/>
                  </a:ext>
                </a:extLst>
              </a:tr>
              <a:tr h="370840">
                <a:tc>
                  <a:txBody>
                    <a:bodyPr/>
                    <a:lstStyle/>
                    <a:p>
                      <a:r>
                        <a:rPr lang="en-US" dirty="0"/>
                        <a:t>2.a</a:t>
                      </a:r>
                    </a:p>
                  </a:txBody>
                  <a:tcPr/>
                </a:tc>
                <a:tc>
                  <a:txBody>
                    <a:bodyPr/>
                    <a:lstStyle/>
                    <a:p>
                      <a:r>
                        <a:rPr lang="en-US" dirty="0"/>
                        <a:t>OR</a:t>
                      </a:r>
                    </a:p>
                  </a:txBody>
                  <a:tcPr/>
                </a:tc>
                <a:tc>
                  <a:txBody>
                    <a:bodyPr/>
                    <a:lstStyle/>
                    <a:p>
                      <a:r>
                        <a:rPr lang="en-US" dirty="0"/>
                        <a:t>3.0</a:t>
                      </a:r>
                    </a:p>
                  </a:txBody>
                  <a:tcPr/>
                </a:tc>
                <a:tc>
                  <a:txBody>
                    <a:bodyPr/>
                    <a:lstStyle/>
                    <a:p>
                      <a:r>
                        <a:rPr lang="en-US" dirty="0"/>
                        <a:t>62/531</a:t>
                      </a:r>
                    </a:p>
                  </a:txBody>
                  <a:tcPr/>
                </a:tc>
                <a:tc>
                  <a:txBody>
                    <a:bodyPr/>
                    <a:lstStyle/>
                    <a:p>
                      <a:r>
                        <a:rPr lang="en-US" dirty="0"/>
                        <a:t>Strict (MISSES EVENTS)</a:t>
                      </a:r>
                    </a:p>
                  </a:txBody>
                  <a:tcPr/>
                </a:tc>
                <a:extLst>
                  <a:ext uri="{0D108BD9-81ED-4DB2-BD59-A6C34878D82A}">
                    <a16:rowId xmlns:a16="http://schemas.microsoft.com/office/drawing/2014/main" val="2034358501"/>
                  </a:ext>
                </a:extLst>
              </a:tr>
              <a:tr h="370840">
                <a:tc>
                  <a:txBody>
                    <a:bodyPr/>
                    <a:lstStyle/>
                    <a:p>
                      <a:r>
                        <a:rPr lang="en-US" dirty="0"/>
                        <a:t>2.B</a:t>
                      </a:r>
                    </a:p>
                  </a:txBody>
                  <a:tcPr/>
                </a:tc>
                <a:tc>
                  <a:txBody>
                    <a:bodyPr/>
                    <a:lstStyle/>
                    <a:p>
                      <a:r>
                        <a:rPr lang="en-US" dirty="0"/>
                        <a:t>AND</a:t>
                      </a:r>
                    </a:p>
                  </a:txBody>
                  <a:tcPr/>
                </a:tc>
                <a:tc>
                  <a:txBody>
                    <a:bodyPr/>
                    <a:lstStyle/>
                    <a:p>
                      <a:r>
                        <a:rPr lang="en-US" dirty="0"/>
                        <a:t>3.0</a:t>
                      </a:r>
                    </a:p>
                  </a:txBody>
                  <a:tcPr/>
                </a:tc>
                <a:tc>
                  <a:txBody>
                    <a:bodyPr/>
                    <a:lstStyle/>
                    <a:p>
                      <a:r>
                        <a:rPr lang="en-US" dirty="0"/>
                        <a:t>7/531</a:t>
                      </a:r>
                    </a:p>
                  </a:txBody>
                  <a:tcPr/>
                </a:tc>
                <a:tc>
                  <a:txBody>
                    <a:bodyPr/>
                    <a:lstStyle/>
                    <a:p>
                      <a:r>
                        <a:rPr lang="en-US" dirty="0"/>
                        <a:t>Too strict </a:t>
                      </a:r>
                    </a:p>
                  </a:txBody>
                  <a:tcPr/>
                </a:tc>
                <a:extLst>
                  <a:ext uri="{0D108BD9-81ED-4DB2-BD59-A6C34878D82A}">
                    <a16:rowId xmlns:a16="http://schemas.microsoft.com/office/drawing/2014/main" val="1081178943"/>
                  </a:ext>
                </a:extLst>
              </a:tr>
              <a:tr h="370840">
                <a:tc>
                  <a:txBody>
                    <a:bodyPr/>
                    <a:lstStyle/>
                    <a:p>
                      <a:r>
                        <a:rPr lang="en-US" dirty="0"/>
                        <a:t>3.a</a:t>
                      </a:r>
                    </a:p>
                  </a:txBody>
                  <a:tcPr/>
                </a:tc>
                <a:tc>
                  <a:txBody>
                    <a:bodyPr/>
                    <a:lstStyle/>
                    <a:p>
                      <a:r>
                        <a:rPr lang="en-US" dirty="0"/>
                        <a:t>OR</a:t>
                      </a:r>
                    </a:p>
                  </a:txBody>
                  <a:tcPr/>
                </a:tc>
                <a:tc>
                  <a:txBody>
                    <a:bodyPr/>
                    <a:lstStyle/>
                    <a:p>
                      <a:r>
                        <a:rPr lang="en-US" dirty="0"/>
                        <a:t>2.0</a:t>
                      </a:r>
                    </a:p>
                  </a:txBody>
                  <a:tcPr/>
                </a:tc>
                <a:tc>
                  <a:txBody>
                    <a:bodyPr/>
                    <a:lstStyle/>
                    <a:p>
                      <a:r>
                        <a:rPr lang="en-US" dirty="0"/>
                        <a:t>182/531</a:t>
                      </a:r>
                    </a:p>
                  </a:txBody>
                  <a:tcPr/>
                </a:tc>
                <a:tc>
                  <a:txBody>
                    <a:bodyPr/>
                    <a:lstStyle/>
                    <a:p>
                      <a:r>
                        <a:rPr lang="en-US" dirty="0"/>
                        <a:t>Moderate </a:t>
                      </a:r>
                    </a:p>
                  </a:txBody>
                  <a:tcPr/>
                </a:tc>
                <a:extLst>
                  <a:ext uri="{0D108BD9-81ED-4DB2-BD59-A6C34878D82A}">
                    <a16:rowId xmlns:a16="http://schemas.microsoft.com/office/drawing/2014/main" val="778578474"/>
                  </a:ext>
                </a:extLst>
              </a:tr>
              <a:tr h="370840">
                <a:tc>
                  <a:txBody>
                    <a:bodyPr/>
                    <a:lstStyle/>
                    <a:p>
                      <a:r>
                        <a:rPr lang="en-US" dirty="0"/>
                        <a:t>3.B</a:t>
                      </a:r>
                    </a:p>
                  </a:txBody>
                  <a:tcPr/>
                </a:tc>
                <a:tc>
                  <a:txBody>
                    <a:bodyPr/>
                    <a:lstStyle/>
                    <a:p>
                      <a:r>
                        <a:rPr lang="en-US" dirty="0"/>
                        <a:t>AND</a:t>
                      </a:r>
                    </a:p>
                  </a:txBody>
                  <a:tcPr/>
                </a:tc>
                <a:tc>
                  <a:txBody>
                    <a:bodyPr/>
                    <a:lstStyle/>
                    <a:p>
                      <a:r>
                        <a:rPr lang="en-US" dirty="0"/>
                        <a:t>2.0</a:t>
                      </a:r>
                    </a:p>
                  </a:txBody>
                  <a:tcPr/>
                </a:tc>
                <a:tc>
                  <a:txBody>
                    <a:bodyPr/>
                    <a:lstStyle/>
                    <a:p>
                      <a:r>
                        <a:rPr lang="en-US" dirty="0"/>
                        <a:t>130/531</a:t>
                      </a:r>
                    </a:p>
                  </a:txBody>
                  <a:tcPr/>
                </a:tc>
                <a:tc>
                  <a:txBody>
                    <a:bodyPr/>
                    <a:lstStyle/>
                    <a:p>
                      <a:r>
                        <a:rPr lang="en-US" dirty="0"/>
                        <a:t>Optimal </a:t>
                      </a:r>
                    </a:p>
                  </a:txBody>
                  <a:tcPr/>
                </a:tc>
                <a:extLst>
                  <a:ext uri="{0D108BD9-81ED-4DB2-BD59-A6C34878D82A}">
                    <a16:rowId xmlns:a16="http://schemas.microsoft.com/office/drawing/2014/main" val="1288934175"/>
                  </a:ext>
                </a:extLst>
              </a:tr>
            </a:tbl>
          </a:graphicData>
        </a:graphic>
      </p:graphicFrame>
    </p:spTree>
    <p:extLst>
      <p:ext uri="{BB962C8B-B14F-4D97-AF65-F5344CB8AC3E}">
        <p14:creationId xmlns:p14="http://schemas.microsoft.com/office/powerpoint/2010/main" val="732057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CCFB8-C3A8-63E1-4668-D36D2C5336CC}"/>
              </a:ext>
            </a:extLst>
          </p:cNvPr>
          <p:cNvSpPr>
            <a:spLocks noGrp="1"/>
          </p:cNvSpPr>
          <p:nvPr>
            <p:ph type="title"/>
          </p:nvPr>
        </p:nvSpPr>
        <p:spPr/>
        <p:txBody>
          <a:bodyPr/>
          <a:lstStyle/>
          <a:p>
            <a:pPr algn="ctr"/>
            <a:r>
              <a:rPr lang="en-US" b="1" dirty="0"/>
              <a:t>OUTPUT</a:t>
            </a:r>
            <a:br>
              <a:rPr lang="en-US" b="1" dirty="0"/>
            </a:br>
            <a:endParaRPr lang="en-US" dirty="0"/>
          </a:p>
        </p:txBody>
      </p:sp>
      <p:graphicFrame>
        <p:nvGraphicFramePr>
          <p:cNvPr id="8" name="Content Placeholder 7">
            <a:extLst>
              <a:ext uri="{FF2B5EF4-FFF2-40B4-BE49-F238E27FC236}">
                <a16:creationId xmlns:a16="http://schemas.microsoft.com/office/drawing/2014/main" id="{39DC31F7-B79E-68AF-02EC-EC51BB0A815C}"/>
              </a:ext>
            </a:extLst>
          </p:cNvPr>
          <p:cNvGraphicFramePr>
            <a:graphicFrameLocks noGrp="1"/>
          </p:cNvGraphicFramePr>
          <p:nvPr>
            <p:ph idx="1"/>
            <p:extLst>
              <p:ext uri="{D42A27DB-BD31-4B8C-83A1-F6EECF244321}">
                <p14:modId xmlns:p14="http://schemas.microsoft.com/office/powerpoint/2010/main" val="1295947764"/>
              </p:ext>
            </p:extLst>
          </p:nvPr>
        </p:nvGraphicFramePr>
        <p:xfrm>
          <a:off x="838200" y="1825625"/>
          <a:ext cx="3239912" cy="2822310"/>
        </p:xfrm>
        <a:graphic>
          <a:graphicData uri="http://schemas.openxmlformats.org/drawingml/2006/table">
            <a:tbl>
              <a:tblPr firstRow="1" bandRow="1">
                <a:tableStyleId>{5C22544A-7EE6-4342-B048-85BDC9FD1C3A}</a:tableStyleId>
              </a:tblPr>
              <a:tblGrid>
                <a:gridCol w="2243668">
                  <a:extLst>
                    <a:ext uri="{9D8B030D-6E8A-4147-A177-3AD203B41FA5}">
                      <a16:colId xmlns:a16="http://schemas.microsoft.com/office/drawing/2014/main" val="2579867153"/>
                    </a:ext>
                  </a:extLst>
                </a:gridCol>
                <a:gridCol w="996244">
                  <a:extLst>
                    <a:ext uri="{9D8B030D-6E8A-4147-A177-3AD203B41FA5}">
                      <a16:colId xmlns:a16="http://schemas.microsoft.com/office/drawing/2014/main" val="573167103"/>
                    </a:ext>
                  </a:extLst>
                </a:gridCol>
              </a:tblGrid>
              <a:tr h="4510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effectLst/>
                          <a:latin typeface="+mn-lt"/>
                          <a:ea typeface="+mn-ea"/>
                          <a:cs typeface="+mn-cs"/>
                        </a:rPr>
                        <a:t>model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effectLst/>
                          <a:latin typeface="+mn-lt"/>
                          <a:ea typeface="+mn-ea"/>
                          <a:cs typeface="+mn-cs"/>
                        </a:rPr>
                        <a:t>AUC</a:t>
                      </a:r>
                    </a:p>
                  </a:txBody>
                  <a:tcPr/>
                </a:tc>
                <a:extLst>
                  <a:ext uri="{0D108BD9-81ED-4DB2-BD59-A6C34878D82A}">
                    <a16:rowId xmlns:a16="http://schemas.microsoft.com/office/drawing/2014/main" val="2167197127"/>
                  </a:ext>
                </a:extLst>
              </a:tr>
              <a:tr h="4510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Logistic Regression</a:t>
                      </a:r>
                    </a:p>
                    <a:p>
                      <a:endParaRPr lang="en-US" dirty="0"/>
                    </a:p>
                  </a:txBody>
                  <a:tcPr/>
                </a:tc>
                <a:tc>
                  <a:txBody>
                    <a:bodyPr/>
                    <a:lstStyle/>
                    <a:p>
                      <a:r>
                        <a:rPr lang="en-US" b="1" dirty="0"/>
                        <a:t>0.871</a:t>
                      </a:r>
                    </a:p>
                  </a:txBody>
                  <a:tcPr/>
                </a:tc>
                <a:extLst>
                  <a:ext uri="{0D108BD9-81ED-4DB2-BD59-A6C34878D82A}">
                    <a16:rowId xmlns:a16="http://schemas.microsoft.com/office/drawing/2014/main" val="3883944546"/>
                  </a:ext>
                </a:extLst>
              </a:tr>
              <a:tr h="4510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Gradient Boosting</a:t>
                      </a:r>
                    </a:p>
                  </a:txBody>
                  <a:tcPr/>
                </a:tc>
                <a:tc>
                  <a:txBody>
                    <a:bodyPr/>
                    <a:lstStyle/>
                    <a:p>
                      <a:r>
                        <a:rPr lang="en-US" dirty="0"/>
                        <a:t>0.541</a:t>
                      </a:r>
                    </a:p>
                  </a:txBody>
                  <a:tcPr/>
                </a:tc>
                <a:extLst>
                  <a:ext uri="{0D108BD9-81ED-4DB2-BD59-A6C34878D82A}">
                    <a16:rowId xmlns:a16="http://schemas.microsoft.com/office/drawing/2014/main" val="2692543489"/>
                  </a:ext>
                </a:extLst>
              </a:tr>
              <a:tr h="4510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XG Boost</a:t>
                      </a:r>
                    </a:p>
                    <a:p>
                      <a:endParaRPr lang="en-US" dirty="0"/>
                    </a:p>
                  </a:txBody>
                  <a:tcPr/>
                </a:tc>
                <a:tc>
                  <a:txBody>
                    <a:bodyPr/>
                    <a:lstStyle/>
                    <a:p>
                      <a:r>
                        <a:rPr lang="en-US" dirty="0"/>
                        <a:t>0.693</a:t>
                      </a:r>
                    </a:p>
                  </a:txBody>
                  <a:tcPr/>
                </a:tc>
                <a:extLst>
                  <a:ext uri="{0D108BD9-81ED-4DB2-BD59-A6C34878D82A}">
                    <a16:rowId xmlns:a16="http://schemas.microsoft.com/office/drawing/2014/main" val="3716884720"/>
                  </a:ext>
                </a:extLst>
              </a:tr>
              <a:tr h="4510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Random Forest</a:t>
                      </a:r>
                    </a:p>
                    <a:p>
                      <a:endParaRPr lang="en-US" dirty="0"/>
                    </a:p>
                  </a:txBody>
                  <a:tcPr/>
                </a:tc>
                <a:tc>
                  <a:txBody>
                    <a:bodyPr/>
                    <a:lstStyle/>
                    <a:p>
                      <a:r>
                        <a:rPr lang="en-US" dirty="0"/>
                        <a:t>0.57</a:t>
                      </a:r>
                    </a:p>
                  </a:txBody>
                  <a:tcPr/>
                </a:tc>
                <a:extLst>
                  <a:ext uri="{0D108BD9-81ED-4DB2-BD59-A6C34878D82A}">
                    <a16:rowId xmlns:a16="http://schemas.microsoft.com/office/drawing/2014/main" val="3340204024"/>
                  </a:ext>
                </a:extLst>
              </a:tr>
            </a:tbl>
          </a:graphicData>
        </a:graphic>
      </p:graphicFrame>
      <p:pic>
        <p:nvPicPr>
          <p:cNvPr id="5" name="Picture 4">
            <a:extLst>
              <a:ext uri="{FF2B5EF4-FFF2-40B4-BE49-F238E27FC236}">
                <a16:creationId xmlns:a16="http://schemas.microsoft.com/office/drawing/2014/main" id="{FC07B0F4-CCEA-797E-A756-73A506BDBEA7}"/>
              </a:ext>
            </a:extLst>
          </p:cNvPr>
          <p:cNvPicPr>
            <a:picLocks noChangeAspect="1"/>
          </p:cNvPicPr>
          <p:nvPr/>
        </p:nvPicPr>
        <p:blipFill>
          <a:blip r:embed="rId2"/>
          <a:stretch>
            <a:fillRect/>
          </a:stretch>
        </p:blipFill>
        <p:spPr>
          <a:xfrm>
            <a:off x="5032427" y="1240972"/>
            <a:ext cx="6535860" cy="5078186"/>
          </a:xfrm>
          <a:prstGeom prst="rect">
            <a:avLst/>
          </a:prstGeom>
        </p:spPr>
      </p:pic>
    </p:spTree>
    <p:extLst>
      <p:ext uri="{BB962C8B-B14F-4D97-AF65-F5344CB8AC3E}">
        <p14:creationId xmlns:p14="http://schemas.microsoft.com/office/powerpoint/2010/main" val="3344640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22BA5-0821-CAA8-F78C-85F8E620F51D}"/>
              </a:ext>
            </a:extLst>
          </p:cNvPr>
          <p:cNvSpPr>
            <a:spLocks noGrp="1"/>
          </p:cNvSpPr>
          <p:nvPr>
            <p:ph type="title"/>
          </p:nvPr>
        </p:nvSpPr>
        <p:spPr/>
        <p:txBody>
          <a:bodyPr>
            <a:normAutofit/>
          </a:bodyPr>
          <a:lstStyle/>
          <a:p>
            <a:pPr algn="ctr"/>
            <a:r>
              <a:rPr lang="en-US" sz="4000" dirty="0"/>
              <a:t>Escalation Risk Probability [version 3.b]- optimal</a:t>
            </a:r>
          </a:p>
        </p:txBody>
      </p:sp>
      <p:pic>
        <p:nvPicPr>
          <p:cNvPr id="5" name="Content Placeholder 4" descr="The diagram displays a graph with an escalation probability curve, indicating the likelihood of an event occurring over time from 2016 to 2027, with a decision threshold marked at 0.6.&#10;&#10;AI-generated content may be incorrect.">
            <a:extLst>
              <a:ext uri="{FF2B5EF4-FFF2-40B4-BE49-F238E27FC236}">
                <a16:creationId xmlns:a16="http://schemas.microsoft.com/office/drawing/2014/main" id="{50D935AF-4794-1794-BFD8-4B2368ACF8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46913"/>
            <a:ext cx="10515600" cy="3691158"/>
          </a:xfrm>
          <a:prstGeom prst="rect">
            <a:avLst/>
          </a:prstGeom>
        </p:spPr>
      </p:pic>
    </p:spTree>
    <p:extLst>
      <p:ext uri="{BB962C8B-B14F-4D97-AF65-F5344CB8AC3E}">
        <p14:creationId xmlns:p14="http://schemas.microsoft.com/office/powerpoint/2010/main" val="4126553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58746-2B3D-C434-FB6E-AC9240130A86}"/>
              </a:ext>
            </a:extLst>
          </p:cNvPr>
          <p:cNvSpPr>
            <a:spLocks noGrp="1"/>
          </p:cNvSpPr>
          <p:nvPr>
            <p:ph type="title"/>
          </p:nvPr>
        </p:nvSpPr>
        <p:spPr/>
        <p:txBody>
          <a:bodyPr/>
          <a:lstStyle/>
          <a:p>
            <a:pPr algn="ctr"/>
            <a:r>
              <a:rPr lang="en-US" dirty="0"/>
              <a:t>Failed version[2.b]</a:t>
            </a:r>
          </a:p>
        </p:txBody>
      </p:sp>
      <p:pic>
        <p:nvPicPr>
          <p:cNvPr id="5" name="Content Placeholder 4" descr="The diagram displays a graphical representation of escalation probability, showing a threshold at 0.01 and a timeline from 2010 to 2024.&#10;&#10;AI-generated content may be incorrect.">
            <a:extLst>
              <a:ext uri="{FF2B5EF4-FFF2-40B4-BE49-F238E27FC236}">
                <a16:creationId xmlns:a16="http://schemas.microsoft.com/office/drawing/2014/main" id="{C3418D0A-FF14-52F7-859A-FC90FABE4E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43373"/>
            <a:ext cx="10515600" cy="3728254"/>
          </a:xfrm>
          <a:prstGeom prst="rect">
            <a:avLst/>
          </a:prstGeom>
        </p:spPr>
      </p:pic>
    </p:spTree>
    <p:extLst>
      <p:ext uri="{BB962C8B-B14F-4D97-AF65-F5344CB8AC3E}">
        <p14:creationId xmlns:p14="http://schemas.microsoft.com/office/powerpoint/2010/main" val="570865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166949E-BDC9-F891-E60D-45B200F749B7}"/>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a:solidFill>
                  <a:schemeClr val="tx1"/>
                </a:solidFill>
                <a:latin typeface="+mj-lt"/>
                <a:ea typeface="+mj-ea"/>
                <a:cs typeface="+mj-cs"/>
              </a:rPr>
              <a:t>Thank you</a:t>
            </a:r>
            <a:br>
              <a:rPr lang="en-US" sz="8000" kern="1200">
                <a:solidFill>
                  <a:schemeClr val="tx1"/>
                </a:solidFill>
                <a:latin typeface="+mj-lt"/>
                <a:ea typeface="+mj-ea"/>
                <a:cs typeface="+mj-cs"/>
              </a:rPr>
            </a:br>
            <a:endParaRPr lang="en-US" sz="8000" kern="1200">
              <a:solidFill>
                <a:schemeClr val="tx1"/>
              </a:solidFill>
              <a:latin typeface="+mj-lt"/>
              <a:ea typeface="+mj-ea"/>
              <a:cs typeface="+mj-cs"/>
            </a:endParaRPr>
          </a:p>
        </p:txBody>
      </p:sp>
      <p:sp>
        <p:nvSpPr>
          <p:cNvPr id="29" name="Rectangle 2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1924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D14B93F-4032-497A-AD4A-C0D93674EB64}">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16093</TotalTime>
  <Words>788</Words>
  <Application>Microsoft Office PowerPoint</Application>
  <PresentationFormat>Widescreen</PresentationFormat>
  <Paragraphs>142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Times New Roman</vt:lpstr>
      <vt:lpstr>Office Theme</vt:lpstr>
      <vt:lpstr>PREDICTING INTERNATIONAL ESCALATIONS AND NARRATIVE SHIFTS IN CONFLICT</vt:lpstr>
      <vt:lpstr>PowerPoint Presentation</vt:lpstr>
      <vt:lpstr>DATA SOURCES</vt:lpstr>
      <vt:lpstr>PowerPoint Presentation</vt:lpstr>
      <vt:lpstr>PowerPoint Presentation</vt:lpstr>
      <vt:lpstr>PowerPoint Presentation</vt:lpstr>
      <vt:lpstr>Data Preprocessing</vt:lpstr>
      <vt:lpstr>PowerPoint Presentation</vt:lpstr>
      <vt:lpstr>Feature Engineering: </vt:lpstr>
      <vt:lpstr>Escalation Label Design </vt:lpstr>
      <vt:lpstr>OUTPUT </vt:lpstr>
      <vt:lpstr>Escalation Risk Probability [version 3.b]- optimal</vt:lpstr>
      <vt:lpstr>Failed version[2.b]</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chamundeshwari Kottur</dc:creator>
  <cp:lastModifiedBy>chamundeshwari Kottur</cp:lastModifiedBy>
  <cp:revision>1</cp:revision>
  <dcterms:created xsi:type="dcterms:W3CDTF">2026-04-02T17:20:42Z</dcterms:created>
  <dcterms:modified xsi:type="dcterms:W3CDTF">2026-05-03T23:34:13Z</dcterms:modified>
</cp:coreProperties>
</file>